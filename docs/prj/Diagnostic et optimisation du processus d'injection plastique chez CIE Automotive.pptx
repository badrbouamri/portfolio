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8288000" cy="10287000"/>
  <p:notesSz cx="6858000" cy="9144000"/>
  <p:embeddedFontLst>
    <p:embeddedFont>
      <p:font typeface="Fira Sans Bold" panose="020B0604020202020204" charset="0"/>
      <p:regular r:id="rId35"/>
      <p:bold r:id="rId36"/>
    </p:embeddedFont>
    <p:embeddedFont>
      <p:font typeface="Fira Sans Medium" panose="020B0603050000020004" pitchFamily="34" charset="0"/>
      <p:regular r:id="rId37"/>
      <p:italic r:id="rId38"/>
    </p:embeddedFont>
    <p:embeddedFont>
      <p:font typeface="Montserrat Bold" panose="020B0604020202020204" charset="0"/>
      <p:regular r:id="rId39"/>
      <p:bold r:id="rId40"/>
    </p:embeddedFont>
    <p:embeddedFont>
      <p:font typeface="Montserrat Medium" panose="00000600000000000000" pitchFamily="2" charset="0"/>
      <p:regular r:id="rId41"/>
      <p:italic r:id="rId42"/>
    </p:embeddedFont>
    <p:embeddedFont>
      <p:font typeface="Tahoma Bold" panose="020B0604020202020204" charset="0"/>
      <p:regular r:id="rId43"/>
    </p:embeddedFont>
    <p:embeddedFont>
      <p:font typeface="Work Sans" pitchFamily="2" charset="0"/>
      <p:regular r:id="rId44"/>
      <p:bold r:id="rId45"/>
      <p:italic r:id="rId46"/>
      <p:boldItalic r:id="rId47"/>
    </p:embeddedFont>
    <p:embeddedFont>
      <p:font typeface="Work Sans Bold" pitchFamily="2" charset="0"/>
      <p:regular r:id="rId48"/>
      <p:bold r:id="rId4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53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5ADA7D-D18E-4A04-A3ED-70767D94A1EA}" type="datetimeFigureOut">
              <a:rPr lang="en-AU" smtClean="0"/>
              <a:t>30/12/2025</a:t>
            </a:fld>
            <a:endParaRPr lang="en-AU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AU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A38136-7F97-4684-950A-6301067FE780}" type="slidenum">
              <a:rPr lang="en-AU" smtClean="0"/>
              <a:t>‹N°›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0862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Le groupe CIE Automotive est présent dans plusieurs pays et constitue aujourd’hui un acteur incontournable de l’industrie automobile.</a:t>
            </a:r>
          </a:p>
          <a:p>
            <a:r>
              <a:rPr lang="fr-FR" dirty="0"/>
              <a:t>Son activité repose sur des procédés variés : forge, usinage, aluminium, injection plastique, etc.</a:t>
            </a:r>
            <a:br>
              <a:rPr lang="fr-FR" dirty="0"/>
            </a:br>
            <a:r>
              <a:rPr lang="fr-FR" dirty="0"/>
              <a:t>L’entreprise met un point d’honneur sur la qualité, l’innovation et l’amélioration continue.</a:t>
            </a:r>
          </a:p>
          <a:p>
            <a:endParaRPr lang="en-AU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38136-7F97-4684-950A-6301067FE780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9997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CIE Automotive dispose d’un large portefeuille de clients, ce qui limite leur exposition au risque envers un seul client. </a:t>
            </a:r>
          </a:p>
          <a:p>
            <a:endParaRPr lang="fr-FR" dirty="0"/>
          </a:p>
          <a:p>
            <a:r>
              <a:rPr lang="fr-FR" dirty="0"/>
              <a:t>CIE Automotive produit une variété de composants pour l’industrie automobile, par exemples : </a:t>
            </a:r>
          </a:p>
          <a:p>
            <a:r>
              <a:rPr lang="fr-FR" dirty="0"/>
              <a:t> Pièces en plastique injecté : Capteurs, boîtiers électroniques, garnitures intérieures et extérieures, etc.</a:t>
            </a:r>
          </a:p>
          <a:p>
            <a:r>
              <a:rPr lang="fr-FR" dirty="0"/>
              <a:t>  Composants métalliques : Pièces de structure, supports moteurs, composants de transmission, etc. </a:t>
            </a:r>
          </a:p>
          <a:p>
            <a:r>
              <a:rPr lang="fr-FR" dirty="0"/>
              <a:t> Assemblages : Systèmes de suspension, modules de direction, sous-ensembles de châssis, </a:t>
            </a:r>
            <a:endParaRPr lang="en-AU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A38136-7F97-4684-950A-6301067FE780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60549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svg"/><Relationship Id="rId18" Type="http://schemas.openxmlformats.org/officeDocument/2006/relationships/image" Target="../media/image63.png"/><Relationship Id="rId3" Type="http://schemas.openxmlformats.org/officeDocument/2006/relationships/image" Target="../media/image48.svg"/><Relationship Id="rId21" Type="http://schemas.openxmlformats.org/officeDocument/2006/relationships/image" Target="../media/image66.svg"/><Relationship Id="rId7" Type="http://schemas.openxmlformats.org/officeDocument/2006/relationships/image" Target="../media/image52.svg"/><Relationship Id="rId12" Type="http://schemas.openxmlformats.org/officeDocument/2006/relationships/image" Target="../media/image57.png"/><Relationship Id="rId17" Type="http://schemas.openxmlformats.org/officeDocument/2006/relationships/image" Target="../media/image62.svg"/><Relationship Id="rId2" Type="http://schemas.openxmlformats.org/officeDocument/2006/relationships/image" Target="../media/image47.png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56.svg"/><Relationship Id="rId5" Type="http://schemas.openxmlformats.org/officeDocument/2006/relationships/image" Target="../media/image50.svg"/><Relationship Id="rId15" Type="http://schemas.openxmlformats.org/officeDocument/2006/relationships/image" Target="../media/image60.svg"/><Relationship Id="rId23" Type="http://schemas.openxmlformats.org/officeDocument/2006/relationships/image" Target="../media/image68.svg"/><Relationship Id="rId10" Type="http://schemas.openxmlformats.org/officeDocument/2006/relationships/image" Target="../media/image55.png"/><Relationship Id="rId19" Type="http://schemas.openxmlformats.org/officeDocument/2006/relationships/image" Target="../media/image64.svg"/><Relationship Id="rId4" Type="http://schemas.openxmlformats.org/officeDocument/2006/relationships/image" Target="../media/image49.png"/><Relationship Id="rId9" Type="http://schemas.openxmlformats.org/officeDocument/2006/relationships/image" Target="../media/image54.sv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5.sv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7.png"/><Relationship Id="rId11" Type="http://schemas.openxmlformats.org/officeDocument/2006/relationships/image" Target="../media/image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4411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14609132" y="709544"/>
            <a:ext cx="3136950" cy="1528624"/>
            <a:chOff x="0" y="0"/>
            <a:chExt cx="4182600" cy="2038165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82618" cy="2038223"/>
            </a:xfrm>
            <a:custGeom>
              <a:avLst/>
              <a:gdLst/>
              <a:ahLst/>
              <a:cxnLst/>
              <a:rect l="l" t="t" r="r" b="b"/>
              <a:pathLst>
                <a:path w="4182618" h="2038223">
                  <a:moveTo>
                    <a:pt x="0" y="0"/>
                  </a:moveTo>
                  <a:lnTo>
                    <a:pt x="4182618" y="0"/>
                  </a:lnTo>
                  <a:lnTo>
                    <a:pt x="4182618" y="2038223"/>
                  </a:lnTo>
                  <a:lnTo>
                    <a:pt x="0" y="203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92" b="-98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481944" y="505616"/>
            <a:ext cx="4423274" cy="1936480"/>
            <a:chOff x="0" y="0"/>
            <a:chExt cx="5897699" cy="258197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97753" cy="2581910"/>
            </a:xfrm>
            <a:custGeom>
              <a:avLst/>
              <a:gdLst/>
              <a:ahLst/>
              <a:cxnLst/>
              <a:rect l="l" t="t" r="r" b="b"/>
              <a:pathLst>
                <a:path w="5897753" h="2581910">
                  <a:moveTo>
                    <a:pt x="0" y="0"/>
                  </a:moveTo>
                  <a:lnTo>
                    <a:pt x="5897753" y="0"/>
                  </a:lnTo>
                  <a:lnTo>
                    <a:pt x="5897753" y="2581910"/>
                  </a:lnTo>
                  <a:lnTo>
                    <a:pt x="0" y="2581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60077" b="-68346"/>
              </a:stretch>
            </a:blipFill>
          </p:spPr>
        </p:sp>
      </p:grpSp>
      <p:sp>
        <p:nvSpPr>
          <p:cNvPr id="8" name="Freeform 8"/>
          <p:cNvSpPr/>
          <p:nvPr/>
        </p:nvSpPr>
        <p:spPr>
          <a:xfrm>
            <a:off x="13648208" y="8987117"/>
            <a:ext cx="4097874" cy="542366"/>
          </a:xfrm>
          <a:custGeom>
            <a:avLst/>
            <a:gdLst/>
            <a:ahLst/>
            <a:cxnLst/>
            <a:rect l="l" t="t" r="r" b="b"/>
            <a:pathLst>
              <a:path w="4097874" h="542366">
                <a:moveTo>
                  <a:pt x="0" y="0"/>
                </a:moveTo>
                <a:lnTo>
                  <a:pt x="4097874" y="0"/>
                </a:lnTo>
                <a:lnTo>
                  <a:pt x="4097874" y="542366"/>
                </a:lnTo>
                <a:lnTo>
                  <a:pt x="0" y="5423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93821" y="7217347"/>
            <a:ext cx="7022958" cy="4048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dirty="0" err="1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Présenté</a:t>
            </a:r>
            <a:r>
              <a:rPr lang="en-US" sz="3200" b="1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par:</a:t>
            </a:r>
          </a:p>
          <a:p>
            <a:pPr algn="l">
              <a:lnSpc>
                <a:spcPts val="3240"/>
              </a:lnSpc>
            </a:pP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         BADR </a:t>
            </a:r>
            <a:r>
              <a:rPr lang="en-US" sz="2700" dirty="0" err="1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eddine</a:t>
            </a: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ELBOUAMRI</a:t>
            </a:r>
          </a:p>
          <a:p>
            <a:pPr algn="l">
              <a:lnSpc>
                <a:spcPts val="3240"/>
              </a:lnSpc>
            </a:pP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         Maryam AHNOU</a:t>
            </a:r>
          </a:p>
          <a:p>
            <a:pPr algn="l">
              <a:lnSpc>
                <a:spcPts val="3240"/>
              </a:lnSpc>
            </a:pP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         Hamza LOURIK</a:t>
            </a:r>
          </a:p>
          <a:p>
            <a:pPr algn="l">
              <a:lnSpc>
                <a:spcPts val="3240"/>
              </a:lnSpc>
            </a:pP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         Ayoub LAHNICHE</a:t>
            </a:r>
          </a:p>
          <a:p>
            <a:pPr algn="l">
              <a:lnSpc>
                <a:spcPts val="3240"/>
              </a:lnSpc>
            </a:pPr>
            <a:endParaRPr lang="en-US" sz="2700" dirty="0"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  <a:p>
            <a:pPr algn="l">
              <a:lnSpc>
                <a:spcPts val="3240"/>
              </a:lnSpc>
            </a:pPr>
            <a:r>
              <a:rPr lang="en-US" sz="2700" dirty="0">
                <a:latin typeface="Times New Roman" panose="02020603050405020304" pitchFamily="18" charset="0"/>
                <a:ea typeface="Work Sans"/>
                <a:cs typeface="Times New Roman" panose="02020603050405020304" pitchFamily="18" charset="0"/>
                <a:sym typeface="Work Sans"/>
              </a:rPr>
              <a:t> </a:t>
            </a:r>
          </a:p>
          <a:p>
            <a:pPr algn="l">
              <a:lnSpc>
                <a:spcPts val="4320"/>
              </a:lnSpc>
            </a:pPr>
            <a:endParaRPr lang="en-US" sz="2700" dirty="0"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  <a:p>
            <a:pPr algn="l">
              <a:lnSpc>
                <a:spcPts val="4320"/>
              </a:lnSpc>
            </a:pPr>
            <a:endParaRPr lang="en-US" sz="2700" dirty="0">
              <a:latin typeface="Times New Roman" panose="02020603050405020304" pitchFamily="18" charset="0"/>
              <a:ea typeface="Work Sans"/>
              <a:cs typeface="Times New Roman" panose="02020603050405020304" pitchFamily="18" charset="0"/>
              <a:sym typeface="Work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663691" y="3994332"/>
            <a:ext cx="10960617" cy="1466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759"/>
              </a:lnSpc>
              <a:spcBef>
                <a:spcPct val="0"/>
              </a:spcBef>
            </a:pPr>
            <a:r>
              <a:rPr lang="en-US" sz="4800" u="none" strike="noStrike" spc="-27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Diagnostic et optimisation du processus d'injection plastique chez CIE Automotive</a:t>
            </a:r>
          </a:p>
        </p:txBody>
      </p:sp>
      <p:sp>
        <p:nvSpPr>
          <p:cNvPr id="11" name="AutoShape 11"/>
          <p:cNvSpPr/>
          <p:nvPr/>
        </p:nvSpPr>
        <p:spPr>
          <a:xfrm>
            <a:off x="3663691" y="3733800"/>
            <a:ext cx="10945441" cy="0"/>
          </a:xfrm>
          <a:prstGeom prst="line">
            <a:avLst/>
          </a:prstGeom>
          <a:ln w="38100" cap="flat">
            <a:solidFill>
              <a:srgbClr val="4676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3663691" y="5737407"/>
            <a:ext cx="10945441" cy="0"/>
          </a:xfrm>
          <a:prstGeom prst="line">
            <a:avLst/>
          </a:prstGeom>
          <a:ln w="38100" cap="flat">
            <a:solidFill>
              <a:srgbClr val="4676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ZoneTexte 83">
            <a:extLst>
              <a:ext uri="{FF2B5EF4-FFF2-40B4-BE49-F238E27FC236}">
                <a16:creationId xmlns:a16="http://schemas.microsoft.com/office/drawing/2014/main" id="{DECEAA44-450B-A109-3C0E-0D051E1A4935}"/>
              </a:ext>
            </a:extLst>
          </p:cNvPr>
          <p:cNvSpPr txBox="1"/>
          <p:nvPr/>
        </p:nvSpPr>
        <p:spPr>
          <a:xfrm>
            <a:off x="12365865" y="7237735"/>
            <a:ext cx="5049779" cy="1517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b="1" noProof="0" dirty="0">
                <a:latin typeface="Times New Roman" panose="02020603050405020304" pitchFamily="18" charset="0"/>
                <a:cs typeface="Times New Roman" pitchFamily="18" charset="0"/>
              </a:rPr>
              <a:t>Demandé par:</a:t>
            </a:r>
          </a:p>
          <a:p>
            <a:pPr marL="449580">
              <a:lnSpc>
                <a:spcPct val="107000"/>
              </a:lnSpc>
              <a:spcAft>
                <a:spcPts val="800"/>
              </a:spcAft>
            </a:pPr>
            <a:r>
              <a:rPr lang="fr-FR" sz="2700" b="1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</a:t>
            </a:r>
            <a:r>
              <a:rPr lang="fr-FR" sz="2700" noProof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Pr. NISSABOURI Salah</a:t>
            </a:r>
          </a:p>
          <a:p>
            <a:endParaRPr lang="fr-FR" sz="2800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3002" y="167206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263952" y="2180824"/>
            <a:ext cx="17777042" cy="789050"/>
          </a:xfrm>
          <a:custGeom>
            <a:avLst/>
            <a:gdLst/>
            <a:ahLst/>
            <a:cxnLst/>
            <a:rect l="l" t="t" r="r" b="b"/>
            <a:pathLst>
              <a:path w="17777042" h="789050">
                <a:moveTo>
                  <a:pt x="0" y="0"/>
                </a:moveTo>
                <a:lnTo>
                  <a:pt x="17777042" y="0"/>
                </a:lnTo>
                <a:lnTo>
                  <a:pt x="17777042" y="789050"/>
                </a:lnTo>
                <a:lnTo>
                  <a:pt x="0" y="7890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276509" y="1608556"/>
            <a:ext cx="1183177" cy="6991686"/>
          </a:xfrm>
          <a:custGeom>
            <a:avLst/>
            <a:gdLst/>
            <a:ahLst/>
            <a:cxnLst/>
            <a:rect l="l" t="t" r="r" b="b"/>
            <a:pathLst>
              <a:path w="1183177" h="6991686">
                <a:moveTo>
                  <a:pt x="0" y="0"/>
                </a:moveTo>
                <a:lnTo>
                  <a:pt x="1183177" y="0"/>
                </a:lnTo>
                <a:lnTo>
                  <a:pt x="1183177" y="6991686"/>
                </a:lnTo>
                <a:lnTo>
                  <a:pt x="0" y="6991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92" t="-7109" b="-433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452175" y="856849"/>
            <a:ext cx="15225150" cy="933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1">
                <a:solidFill>
                  <a:srgbClr val="4676B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PLAN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53999" y="4162198"/>
            <a:ext cx="47131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263C"/>
                </a:solidFill>
                <a:latin typeface="Work Sans"/>
                <a:ea typeface="Work Sans"/>
                <a:cs typeface="Work Sans"/>
                <a:sym typeface="Work Sans"/>
              </a:rPr>
              <a:t>L’injection plastique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747192" y="6668971"/>
            <a:ext cx="4713150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263C"/>
                </a:solidFill>
                <a:latin typeface="Work Sans"/>
                <a:ea typeface="Work Sans"/>
                <a:cs typeface="Work Sans"/>
                <a:sym typeface="Work Sans"/>
              </a:rPr>
              <a:t>conclusion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35781" y="4971823"/>
            <a:ext cx="11676294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263C"/>
                </a:solidFill>
                <a:latin typeface="Work Sans"/>
                <a:ea typeface="Work Sans"/>
                <a:cs typeface="Work Sans"/>
                <a:sym typeface="Work Sans"/>
              </a:rPr>
              <a:t>Diagnostic de la zone d'injection et Étude de l'existant.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53999" y="5821246"/>
            <a:ext cx="4694932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263C"/>
                </a:solidFill>
                <a:latin typeface="Work Sans"/>
                <a:ea typeface="Work Sans"/>
                <a:cs typeface="Work Sans"/>
                <a:sym typeface="Work Sans"/>
              </a:rPr>
              <a:t>les actions d’améliorations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989238" y="7355507"/>
            <a:ext cx="646229" cy="646229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H="1" flipV="1">
            <a:off x="3312353" y="167206"/>
            <a:ext cx="19100" cy="978480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2343009" y="6545882"/>
            <a:ext cx="646229" cy="646229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3753999" y="3350874"/>
            <a:ext cx="8040495" cy="42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  <a:spcBef>
                <a:spcPct val="0"/>
              </a:spcBef>
            </a:pPr>
            <a:r>
              <a:rPr lang="en-US" sz="2799" u="none" strike="noStrike">
                <a:solidFill>
                  <a:srgbClr val="16263C"/>
                </a:solidFill>
                <a:latin typeface="Work Sans"/>
                <a:ea typeface="Work Sans"/>
                <a:cs typeface="Work Sans"/>
                <a:sym typeface="Work Sans"/>
              </a:rPr>
              <a:t>Présentation de l’organisme d’accueil 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78213" y="0"/>
            <a:ext cx="17509787" cy="10287000"/>
          </a:xfrm>
          <a:custGeom>
            <a:avLst/>
            <a:gdLst/>
            <a:ahLst/>
            <a:cxnLst/>
            <a:rect l="l" t="t" r="r" b="b"/>
            <a:pathLst>
              <a:path w="17509787" h="10287000">
                <a:moveTo>
                  <a:pt x="0" y="0"/>
                </a:moveTo>
                <a:lnTo>
                  <a:pt x="17509787" y="0"/>
                </a:lnTo>
                <a:lnTo>
                  <a:pt x="175097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9600" y="342900"/>
            <a:ext cx="12254735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Présentation</a:t>
            </a:r>
            <a:r>
              <a:rPr lang="en-US" sz="4200" b="1" u="sng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de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l’organisme</a:t>
            </a:r>
            <a:r>
              <a:rPr lang="en-US" sz="4200" b="1" u="sng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d’accueil</a:t>
            </a:r>
            <a:endParaRPr lang="en-US" sz="4200" b="1" u="sng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endParaRPr lang="en-US" sz="4200" b="1" strike="noStrike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grpSp>
        <p:nvGrpSpPr>
          <p:cNvPr id="4" name="Group 7">
            <a:extLst>
              <a:ext uri="{FF2B5EF4-FFF2-40B4-BE49-F238E27FC236}">
                <a16:creationId xmlns:a16="http://schemas.microsoft.com/office/drawing/2014/main" id="{06CC2CE1-1C31-5378-423C-45C3235DB880}"/>
              </a:ext>
            </a:extLst>
          </p:cNvPr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6DA0B28-B1B5-C584-0FCA-FEE14C58E273}"/>
                </a:ext>
              </a:extLst>
            </p:cNvPr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6" name="TextBox 9">
              <a:extLst>
                <a:ext uri="{FF2B5EF4-FFF2-40B4-BE49-F238E27FC236}">
                  <a16:creationId xmlns:a16="http://schemas.microsoft.com/office/drawing/2014/main" id="{51793981-1CEC-8152-7F7D-78C89A566C5D}"/>
                </a:ext>
              </a:extLst>
            </p:cNvPr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 9">
            <a:extLst>
              <a:ext uri="{FF2B5EF4-FFF2-40B4-BE49-F238E27FC236}">
                <a16:creationId xmlns:a16="http://schemas.microsoft.com/office/drawing/2014/main" id="{79636952-9614-F9E9-A662-9279197ABA80}"/>
              </a:ext>
            </a:extLst>
          </p:cNvPr>
          <p:cNvGrpSpPr/>
          <p:nvPr/>
        </p:nvGrpSpPr>
        <p:grpSpPr>
          <a:xfrm>
            <a:off x="2286000" y="1943100"/>
            <a:ext cx="13487400" cy="7696200"/>
            <a:chOff x="3776812" y="1943100"/>
            <a:chExt cx="10734375" cy="6133445"/>
          </a:xfrm>
        </p:grpSpPr>
        <p:pic>
          <p:nvPicPr>
            <p:cNvPr id="4" name="Image 3">
              <a:extLst>
                <a:ext uri="{FF2B5EF4-FFF2-40B4-BE49-F238E27FC236}">
                  <a16:creationId xmlns:a16="http://schemas.microsoft.com/office/drawing/2014/main" id="{2842EB4E-557F-3D90-4886-8E9A09935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76812" y="3123545"/>
              <a:ext cx="10734375" cy="4953000"/>
            </a:xfrm>
            <a:prstGeom prst="rect">
              <a:avLst/>
            </a:prstGeom>
          </p:spPr>
        </p:pic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4B5351C-3486-23B9-A279-B9A284EAFCE5}"/>
                </a:ext>
              </a:extLst>
            </p:cNvPr>
            <p:cNvSpPr txBox="1"/>
            <p:nvPr/>
          </p:nvSpPr>
          <p:spPr>
            <a:xfrm>
              <a:off x="5905499" y="1943100"/>
              <a:ext cx="6477000" cy="10547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000" b="1" dirty="0">
                  <a:latin typeface="+mj-lt"/>
                  <a:cs typeface="Times New Roman" panose="02020603050405020304" pitchFamily="18" charset="0"/>
                </a:rPr>
                <a:t>Les différents clientes de CIE </a:t>
              </a:r>
              <a:r>
                <a:rPr lang="fr-FR" sz="4000" b="1" dirty="0" err="1">
                  <a:latin typeface="+mj-lt"/>
                  <a:cs typeface="Times New Roman" panose="02020603050405020304" pitchFamily="18" charset="0"/>
                </a:rPr>
                <a:t>auromative</a:t>
              </a:r>
              <a:endParaRPr lang="en-AU" sz="40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EEC53FAB-DA02-56AA-5A43-3748856719C4}"/>
              </a:ext>
            </a:extLst>
          </p:cNvPr>
          <p:cNvGrpSpPr/>
          <p:nvPr/>
        </p:nvGrpSpPr>
        <p:grpSpPr>
          <a:xfrm>
            <a:off x="3276600" y="-9182100"/>
            <a:ext cx="11005987" cy="8839200"/>
            <a:chOff x="4932693" y="-7823801"/>
            <a:chExt cx="8422612" cy="7104556"/>
          </a:xfrm>
        </p:grpSpPr>
        <p:pic>
          <p:nvPicPr>
            <p:cNvPr id="8" name="Image 7" descr="Une image contenant capture d’écran&#10;&#10;Le contenu généré par l’IA peut être incorrect.">
              <a:extLst>
                <a:ext uri="{FF2B5EF4-FFF2-40B4-BE49-F238E27FC236}">
                  <a16:creationId xmlns:a16="http://schemas.microsoft.com/office/drawing/2014/main" id="{9CC142DB-79AB-84CA-E781-3FD6076EAF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2693" y="-6643356"/>
              <a:ext cx="8422612" cy="5924111"/>
            </a:xfrm>
            <a:prstGeom prst="rect">
              <a:avLst/>
            </a:prstGeom>
          </p:spPr>
        </p:pic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4018FF24-D32C-E777-61BF-23A5686975E1}"/>
                </a:ext>
              </a:extLst>
            </p:cNvPr>
            <p:cNvSpPr txBox="1"/>
            <p:nvPr/>
          </p:nvSpPr>
          <p:spPr>
            <a:xfrm>
              <a:off x="5905499" y="-7823801"/>
              <a:ext cx="6477000" cy="104569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4000" b="1" dirty="0">
                  <a:latin typeface="+mj-lt"/>
                </a:rPr>
                <a:t>Exemples des produits fabriqués par CIE automotive</a:t>
              </a:r>
              <a:endParaRPr lang="en-AU" sz="4000" b="1" dirty="0">
                <a:latin typeface="+mj-lt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Group 7">
            <a:extLst>
              <a:ext uri="{FF2B5EF4-FFF2-40B4-BE49-F238E27FC236}">
                <a16:creationId xmlns:a16="http://schemas.microsoft.com/office/drawing/2014/main" id="{FB4FECEE-22B7-B37E-276C-5E43C2456C6E}"/>
              </a:ext>
            </a:extLst>
          </p:cNvPr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5" name="Freeform 8">
              <a:extLst>
                <a:ext uri="{FF2B5EF4-FFF2-40B4-BE49-F238E27FC236}">
                  <a16:creationId xmlns:a16="http://schemas.microsoft.com/office/drawing/2014/main" id="{804C1FEF-207B-53A1-1D80-E3DE97CC0EEC}"/>
                </a:ext>
              </a:extLst>
            </p:cNvPr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40DCCA77-E6CE-634A-04CF-EE193B14E3F6}"/>
                </a:ext>
              </a:extLst>
            </p:cNvPr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id="12" name="TextBox 3">
            <a:extLst>
              <a:ext uri="{FF2B5EF4-FFF2-40B4-BE49-F238E27FC236}">
                <a16:creationId xmlns:a16="http://schemas.microsoft.com/office/drawing/2014/main" id="{6F5A3549-A381-D829-E9C0-74199E35377B}"/>
              </a:ext>
            </a:extLst>
          </p:cNvPr>
          <p:cNvSpPr txBox="1"/>
          <p:nvPr/>
        </p:nvSpPr>
        <p:spPr>
          <a:xfrm>
            <a:off x="609600" y="342900"/>
            <a:ext cx="12254735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040"/>
              </a:lnSpc>
              <a:spcBef>
                <a:spcPct val="0"/>
              </a:spcBef>
            </a:pPr>
            <a:r>
              <a:rPr lang="en-US" sz="42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Présentation</a:t>
            </a:r>
            <a:r>
              <a:rPr lang="en-US" sz="4200" b="1" u="sng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de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l’organisme</a:t>
            </a:r>
            <a:r>
              <a:rPr lang="en-US" sz="4200" b="1" u="sng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 </a:t>
            </a:r>
            <a:r>
              <a:rPr lang="en-US" sz="4200" b="1" u="sng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d’accueil</a:t>
            </a:r>
            <a:endParaRPr lang="en-US" sz="4200" b="1" u="sng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  <a:p>
            <a:pPr marL="0" lvl="0" indent="0" algn="l">
              <a:lnSpc>
                <a:spcPts val="5040"/>
              </a:lnSpc>
              <a:spcBef>
                <a:spcPct val="0"/>
              </a:spcBef>
            </a:pPr>
            <a:endParaRPr lang="en-US" sz="4200" b="1" strike="noStrike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96296E-6 L 0 0.842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213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372 0.1233 L 0.01372 1.0254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51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304984" y="508582"/>
            <a:ext cx="8408858" cy="9356042"/>
            <a:chOff x="0" y="0"/>
            <a:chExt cx="11211811" cy="124747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11814" cy="12474702"/>
            </a:xfrm>
            <a:custGeom>
              <a:avLst/>
              <a:gdLst/>
              <a:ahLst/>
              <a:cxnLst/>
              <a:rect l="l" t="t" r="r" b="b"/>
              <a:pathLst>
                <a:path w="11211814" h="12474702">
                  <a:moveTo>
                    <a:pt x="0" y="0"/>
                  </a:moveTo>
                  <a:lnTo>
                    <a:pt x="11211814" y="0"/>
                  </a:lnTo>
                  <a:lnTo>
                    <a:pt x="11211814" y="12474702"/>
                  </a:lnTo>
                  <a:lnTo>
                    <a:pt x="0" y="1247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24176" r="-24176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335024" y="250897"/>
            <a:ext cx="122362" cy="9790989"/>
          </a:xfrm>
          <a:custGeom>
            <a:avLst/>
            <a:gdLst/>
            <a:ahLst/>
            <a:cxnLst/>
            <a:rect l="l" t="t" r="r" b="b"/>
            <a:pathLst>
              <a:path w="122362" h="9790989">
                <a:moveTo>
                  <a:pt x="0" y="0"/>
                </a:moveTo>
                <a:lnTo>
                  <a:pt x="122362" y="0"/>
                </a:lnTo>
                <a:lnTo>
                  <a:pt x="122362" y="9790989"/>
                </a:lnTo>
                <a:lnTo>
                  <a:pt x="0" y="9790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452752" y="235801"/>
            <a:ext cx="7219336" cy="9781933"/>
            <a:chOff x="0" y="0"/>
            <a:chExt cx="9625781" cy="1304257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625838" cy="13042519"/>
            </a:xfrm>
            <a:custGeom>
              <a:avLst/>
              <a:gdLst/>
              <a:ahLst/>
              <a:cxnLst/>
              <a:rect l="l" t="t" r="r" b="b"/>
              <a:pathLst>
                <a:path w="9625838" h="13042519">
                  <a:moveTo>
                    <a:pt x="0" y="13042519"/>
                  </a:moveTo>
                  <a:lnTo>
                    <a:pt x="9625838" y="13042519"/>
                  </a:lnTo>
                  <a:lnTo>
                    <a:pt x="9625838" y="0"/>
                  </a:lnTo>
                  <a:lnTo>
                    <a:pt x="0" y="0"/>
                  </a:lnTo>
                  <a:lnTo>
                    <a:pt x="0" y="13042519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700662" y="255182"/>
            <a:ext cx="234526" cy="9781933"/>
            <a:chOff x="0" y="0"/>
            <a:chExt cx="312702" cy="130425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2674" cy="13042519"/>
            </a:xfrm>
            <a:custGeom>
              <a:avLst/>
              <a:gdLst/>
              <a:ahLst/>
              <a:cxnLst/>
              <a:rect l="l" t="t" r="r" b="b"/>
              <a:pathLst>
                <a:path w="312674" h="13042519">
                  <a:moveTo>
                    <a:pt x="312674" y="0"/>
                  </a:moveTo>
                  <a:lnTo>
                    <a:pt x="0" y="0"/>
                  </a:lnTo>
                  <a:lnTo>
                    <a:pt x="0" y="13042519"/>
                  </a:lnTo>
                  <a:lnTo>
                    <a:pt x="312674" y="13042519"/>
                  </a:lnTo>
                  <a:lnTo>
                    <a:pt x="312674" y="0"/>
                  </a:lnTo>
                  <a:close/>
                </a:path>
              </a:pathLst>
            </a:custGeom>
            <a:solidFill>
              <a:srgbClr val="81BD0B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1949704" y="4548428"/>
            <a:ext cx="6258639" cy="638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u="sng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INJECTION PLASTIQUE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</p:spTree>
  </p:cSld>
  <p:clrMapOvr>
    <a:masterClrMapping/>
  </p:clrMapOvr>
  <p:transition spd="med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05205" y="-133596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1-Les matières plastiques : définition et principaux types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05205" y="-133596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1-1: Définition des matières plastiques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849167" y="-131563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2-2: Les Types de matières plastiques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80078" y="232934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6145064" y="2105271"/>
            <a:ext cx="5997872" cy="1543050"/>
            <a:chOff x="0" y="0"/>
            <a:chExt cx="1579686" cy="406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579687" cy="406400"/>
            </a:xfrm>
            <a:custGeom>
              <a:avLst/>
              <a:gdLst/>
              <a:ahLst/>
              <a:cxnLst/>
              <a:rect l="l" t="t" r="r" b="b"/>
              <a:pathLst>
                <a:path w="1579687" h="406400">
                  <a:moveTo>
                    <a:pt x="0" y="0"/>
                  </a:moveTo>
                  <a:lnTo>
                    <a:pt x="1579687" y="0"/>
                  </a:lnTo>
                  <a:lnTo>
                    <a:pt x="1579687" y="4064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579686" cy="406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679"/>
                </a:lnSpc>
              </a:pPr>
              <a:r>
                <a:rPr lang="en-US" sz="3899" b="1">
                  <a:solidFill>
                    <a:srgbClr val="1217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Matière plastique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9352" y="792244"/>
            <a:ext cx="15225150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4676B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2-2: Les Types de matières plastiques</a:t>
            </a:r>
          </a:p>
          <a:p>
            <a:pPr algn="l">
              <a:lnSpc>
                <a:spcPts val="3840"/>
              </a:lnSpc>
            </a:pPr>
            <a:endParaRPr lang="en-US" sz="3200" b="1">
              <a:solidFill>
                <a:srgbClr val="4676BE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602679" y="5143500"/>
            <a:ext cx="5116364" cy="990817"/>
            <a:chOff x="0" y="0"/>
            <a:chExt cx="1347520" cy="2609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47520" cy="260956"/>
            </a:xfrm>
            <a:custGeom>
              <a:avLst/>
              <a:gdLst/>
              <a:ahLst/>
              <a:cxnLst/>
              <a:rect l="l" t="t" r="r" b="b"/>
              <a:pathLst>
                <a:path w="1347520" h="260956">
                  <a:moveTo>
                    <a:pt x="0" y="0"/>
                  </a:moveTo>
                  <a:lnTo>
                    <a:pt x="1347520" y="0"/>
                  </a:lnTo>
                  <a:lnTo>
                    <a:pt x="1347520" y="260956"/>
                  </a:lnTo>
                  <a:lnTo>
                    <a:pt x="0" y="260956"/>
                  </a:lnTo>
                  <a:close/>
                </a:path>
              </a:pathLst>
            </a:custGeom>
            <a:solidFill>
              <a:srgbClr val="4AA2D9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347520" cy="26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>
                  <a:solidFill>
                    <a:srgbClr val="1217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Thermoplastiques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585818" y="5125334"/>
            <a:ext cx="5116364" cy="1008983"/>
            <a:chOff x="0" y="0"/>
            <a:chExt cx="1347520" cy="26574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47520" cy="265740"/>
            </a:xfrm>
            <a:custGeom>
              <a:avLst/>
              <a:gdLst/>
              <a:ahLst/>
              <a:cxnLst/>
              <a:rect l="l" t="t" r="r" b="b"/>
              <a:pathLst>
                <a:path w="1347520" h="265740">
                  <a:moveTo>
                    <a:pt x="0" y="0"/>
                  </a:moveTo>
                  <a:lnTo>
                    <a:pt x="1347520" y="0"/>
                  </a:lnTo>
                  <a:lnTo>
                    <a:pt x="1347520" y="265740"/>
                  </a:lnTo>
                  <a:lnTo>
                    <a:pt x="0" y="265740"/>
                  </a:lnTo>
                  <a:close/>
                </a:path>
              </a:pathLst>
            </a:custGeom>
            <a:solidFill>
              <a:srgbClr val="4AA2D9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347520" cy="26574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>
                  <a:solidFill>
                    <a:srgbClr val="1217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Thermodurcissables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68590" y="5143500"/>
            <a:ext cx="5116364" cy="990817"/>
            <a:chOff x="0" y="0"/>
            <a:chExt cx="1347520" cy="26095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7520" cy="260956"/>
            </a:xfrm>
            <a:custGeom>
              <a:avLst/>
              <a:gdLst/>
              <a:ahLst/>
              <a:cxnLst/>
              <a:rect l="l" t="t" r="r" b="b"/>
              <a:pathLst>
                <a:path w="1347520" h="260956">
                  <a:moveTo>
                    <a:pt x="0" y="0"/>
                  </a:moveTo>
                  <a:lnTo>
                    <a:pt x="1347520" y="0"/>
                  </a:lnTo>
                  <a:lnTo>
                    <a:pt x="1347520" y="260956"/>
                  </a:lnTo>
                  <a:lnTo>
                    <a:pt x="0" y="260956"/>
                  </a:lnTo>
                  <a:close/>
                </a:path>
              </a:pathLst>
            </a:custGeom>
            <a:solidFill>
              <a:srgbClr val="4AA2D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347520" cy="260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3499" b="1">
                  <a:solidFill>
                    <a:srgbClr val="12171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 élastomères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H="1">
            <a:off x="3141811" y="4214328"/>
            <a:ext cx="19050" cy="9291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8" name="AutoShape 18"/>
          <p:cNvSpPr/>
          <p:nvPr/>
        </p:nvSpPr>
        <p:spPr>
          <a:xfrm>
            <a:off x="9144000" y="4195752"/>
            <a:ext cx="0" cy="929191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9" name="AutoShape 19"/>
          <p:cNvSpPr/>
          <p:nvPr/>
        </p:nvSpPr>
        <p:spPr>
          <a:xfrm flipH="1">
            <a:off x="15088676" y="4195772"/>
            <a:ext cx="19050" cy="92917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AutoShape 20"/>
          <p:cNvSpPr/>
          <p:nvPr/>
        </p:nvSpPr>
        <p:spPr>
          <a:xfrm>
            <a:off x="3160861" y="4195772"/>
            <a:ext cx="1196591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>
            <a:off x="9144000" y="3648321"/>
            <a:ext cx="0" cy="56639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TextBox 22"/>
          <p:cNvSpPr txBox="1"/>
          <p:nvPr/>
        </p:nvSpPr>
        <p:spPr>
          <a:xfrm>
            <a:off x="686986" y="6495398"/>
            <a:ext cx="5032057" cy="121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PP (</a:t>
            </a:r>
            <a:r>
              <a:rPr lang="en-US" sz="2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Polypropylène</a:t>
            </a: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: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pièces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intérieures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de voiture, pare-chocs.</a:t>
            </a:r>
          </a:p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 (</a:t>
            </a:r>
            <a:r>
              <a:rPr lang="en-US" sz="20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Polyéthylène</a:t>
            </a: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: </a:t>
            </a:r>
            <a:r>
              <a:rPr lang="en-US" sz="20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réservoirs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conduites</a:t>
            </a:r>
            <a:r>
              <a:rPr lang="en-US" sz="2000" b="1" dirty="0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585818" y="6495398"/>
            <a:ext cx="2687950" cy="942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Polyester</a:t>
            </a:r>
          </a:p>
          <a:p>
            <a:pPr algn="l">
              <a:lnSpc>
                <a:spcPts val="2520"/>
              </a:lnSpc>
              <a:spcBef>
                <a:spcPct val="0"/>
              </a:spcBef>
            </a:pPr>
            <a:endParaRPr lang="en-US" sz="21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520"/>
              </a:lnSpc>
              <a:spcBef>
                <a:spcPct val="0"/>
              </a:spcBef>
            </a:pPr>
            <a:r>
              <a:rPr lang="en-US" sz="210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Mélamine</a:t>
            </a:r>
            <a:endParaRPr lang="en-US" sz="2100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568590" y="6495398"/>
            <a:ext cx="1679138" cy="30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Caoutchouc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7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05205" y="-133596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2- Principe de l’injection plastique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8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25805" y="3807046"/>
            <a:ext cx="3991059" cy="763016"/>
            <a:chOff x="0" y="0"/>
            <a:chExt cx="5321412" cy="101735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21439" cy="1017405"/>
            </a:xfrm>
            <a:custGeom>
              <a:avLst/>
              <a:gdLst/>
              <a:ahLst/>
              <a:cxnLst/>
              <a:rect l="l" t="t" r="r" b="b"/>
              <a:pathLst>
                <a:path w="5321439" h="1017405">
                  <a:moveTo>
                    <a:pt x="5321439" y="0"/>
                  </a:moveTo>
                  <a:lnTo>
                    <a:pt x="0" y="0"/>
                  </a:lnTo>
                  <a:lnTo>
                    <a:pt x="0" y="1017405"/>
                  </a:lnTo>
                  <a:lnTo>
                    <a:pt x="5321439" y="1017405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5321412" cy="10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Unité d’injection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956926" y="3807046"/>
            <a:ext cx="3890052" cy="763016"/>
            <a:chOff x="0" y="0"/>
            <a:chExt cx="5621527" cy="11026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21459" cy="1102691"/>
            </a:xfrm>
            <a:custGeom>
              <a:avLst/>
              <a:gdLst/>
              <a:ahLst/>
              <a:cxnLst/>
              <a:rect l="l" t="t" r="r" b="b"/>
              <a:pathLst>
                <a:path w="5621459" h="1102691">
                  <a:moveTo>
                    <a:pt x="5621459" y="0"/>
                  </a:moveTo>
                  <a:lnTo>
                    <a:pt x="0" y="0"/>
                  </a:lnTo>
                  <a:lnTo>
                    <a:pt x="0" y="1102691"/>
                  </a:lnTo>
                  <a:lnTo>
                    <a:pt x="5621459" y="1102691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21527" cy="11026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Injection dans le moule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19687" y="2922934"/>
            <a:ext cx="1440000" cy="1008000"/>
            <a:chOff x="0" y="0"/>
            <a:chExt cx="1920000" cy="1344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20000" cy="1344000"/>
            </a:xfrm>
            <a:custGeom>
              <a:avLst/>
              <a:gdLst/>
              <a:ahLst/>
              <a:cxnLst/>
              <a:rect l="l" t="t" r="r" b="b"/>
              <a:pathLst>
                <a:path w="1920000" h="1344000">
                  <a:moveTo>
                    <a:pt x="0" y="0"/>
                  </a:moveTo>
                  <a:lnTo>
                    <a:pt x="1920000" y="0"/>
                  </a:lnTo>
                  <a:lnTo>
                    <a:pt x="1920000" y="1344000"/>
                  </a:lnTo>
                  <a:lnTo>
                    <a:pt x="0" y="134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1920000" cy="136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676BE"/>
                  </a:solidFill>
                  <a:latin typeface="Work Sans"/>
                  <a:ea typeface="Work Sans"/>
                  <a:cs typeface="Work Sans"/>
                  <a:sym typeface="Work Sans"/>
                </a:rPr>
                <a:t>01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181952" y="2922934"/>
            <a:ext cx="1440000" cy="1008000"/>
            <a:chOff x="0" y="0"/>
            <a:chExt cx="1920000" cy="1344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20000" cy="1344000"/>
            </a:xfrm>
            <a:custGeom>
              <a:avLst/>
              <a:gdLst/>
              <a:ahLst/>
              <a:cxnLst/>
              <a:rect l="l" t="t" r="r" b="b"/>
              <a:pathLst>
                <a:path w="1920000" h="1344000">
                  <a:moveTo>
                    <a:pt x="0" y="0"/>
                  </a:moveTo>
                  <a:lnTo>
                    <a:pt x="1920000" y="0"/>
                  </a:lnTo>
                  <a:lnTo>
                    <a:pt x="1920000" y="1344000"/>
                  </a:lnTo>
                  <a:lnTo>
                    <a:pt x="0" y="13440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1920000" cy="13630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676BE"/>
                  </a:solidFill>
                  <a:latin typeface="Work Sans"/>
                  <a:ea typeface="Work Sans"/>
                  <a:cs typeface="Work Sans"/>
                  <a:sym typeface="Work Sans"/>
                </a:rPr>
                <a:t>02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0" y="4775100"/>
            <a:ext cx="4316864" cy="2712854"/>
            <a:chOff x="0" y="0"/>
            <a:chExt cx="7387907" cy="4642795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387844" cy="4642739"/>
            </a:xfrm>
            <a:custGeom>
              <a:avLst/>
              <a:gdLst/>
              <a:ahLst/>
              <a:cxnLst/>
              <a:rect l="l" t="t" r="r" b="b"/>
              <a:pathLst>
                <a:path w="7387844" h="4642739">
                  <a:moveTo>
                    <a:pt x="0" y="0"/>
                  </a:moveTo>
                  <a:lnTo>
                    <a:pt x="7387844" y="0"/>
                  </a:lnTo>
                  <a:lnTo>
                    <a:pt x="7387844" y="4642739"/>
                  </a:lnTo>
                  <a:lnTo>
                    <a:pt x="0" y="464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6514" r="-6515" b="-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4870611" y="4775100"/>
            <a:ext cx="4139413" cy="2712854"/>
            <a:chOff x="0" y="0"/>
            <a:chExt cx="7419464" cy="486250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419467" cy="4862449"/>
            </a:xfrm>
            <a:custGeom>
              <a:avLst/>
              <a:gdLst/>
              <a:ahLst/>
              <a:cxnLst/>
              <a:rect l="l" t="t" r="r" b="b"/>
              <a:pathLst>
                <a:path w="7419467" h="4862449">
                  <a:moveTo>
                    <a:pt x="0" y="0"/>
                  </a:moveTo>
                  <a:lnTo>
                    <a:pt x="7419467" y="0"/>
                  </a:lnTo>
                  <a:lnTo>
                    <a:pt x="7419467" y="4862449"/>
                  </a:lnTo>
                  <a:lnTo>
                    <a:pt x="0" y="4862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3451" r="-23451" b="-1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9451807" y="4775100"/>
            <a:ext cx="4187015" cy="2712854"/>
            <a:chOff x="0" y="0"/>
            <a:chExt cx="6735289" cy="436393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735321" cy="4363977"/>
            </a:xfrm>
            <a:custGeom>
              <a:avLst/>
              <a:gdLst/>
              <a:ahLst/>
              <a:cxnLst/>
              <a:rect l="l" t="t" r="r" b="b"/>
              <a:pathLst>
                <a:path w="6735321" h="4363977">
                  <a:moveTo>
                    <a:pt x="0" y="0"/>
                  </a:moveTo>
                  <a:lnTo>
                    <a:pt x="6735321" y="0"/>
                  </a:lnTo>
                  <a:lnTo>
                    <a:pt x="6735321" y="4363977"/>
                  </a:lnTo>
                  <a:lnTo>
                    <a:pt x="0" y="43639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80" r="-138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14076972" y="4775100"/>
            <a:ext cx="3898888" cy="2712854"/>
            <a:chOff x="0" y="0"/>
            <a:chExt cx="7156659" cy="497961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156617" cy="4979627"/>
            </a:xfrm>
            <a:custGeom>
              <a:avLst/>
              <a:gdLst/>
              <a:ahLst/>
              <a:cxnLst/>
              <a:rect l="l" t="t" r="r" b="b"/>
              <a:pathLst>
                <a:path w="7156617" h="4979627">
                  <a:moveTo>
                    <a:pt x="0" y="0"/>
                  </a:moveTo>
                  <a:lnTo>
                    <a:pt x="7156617" y="0"/>
                  </a:lnTo>
                  <a:lnTo>
                    <a:pt x="7156617" y="4979627"/>
                  </a:lnTo>
                  <a:lnTo>
                    <a:pt x="0" y="497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728" r="-15729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10594601" y="2799046"/>
            <a:ext cx="1440000" cy="1255776"/>
            <a:chOff x="0" y="0"/>
            <a:chExt cx="1920000" cy="167436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20000" cy="1674368"/>
            </a:xfrm>
            <a:custGeom>
              <a:avLst/>
              <a:gdLst/>
              <a:ahLst/>
              <a:cxnLst/>
              <a:rect l="l" t="t" r="r" b="b"/>
              <a:pathLst>
                <a:path w="1920000" h="1674368">
                  <a:moveTo>
                    <a:pt x="0" y="0"/>
                  </a:moveTo>
                  <a:lnTo>
                    <a:pt x="1920000" y="0"/>
                  </a:lnTo>
                  <a:lnTo>
                    <a:pt x="1920000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1920000" cy="1693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676BE"/>
                  </a:solidFill>
                  <a:latin typeface="Work Sans"/>
                  <a:ea typeface="Work Sans"/>
                  <a:cs typeface="Work Sans"/>
                  <a:sym typeface="Work Sans"/>
                </a:rPr>
                <a:t>03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5030729" y="2799046"/>
            <a:ext cx="1440000" cy="1255776"/>
            <a:chOff x="0" y="0"/>
            <a:chExt cx="1920000" cy="1674368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920000" cy="1674368"/>
            </a:xfrm>
            <a:custGeom>
              <a:avLst/>
              <a:gdLst/>
              <a:ahLst/>
              <a:cxnLst/>
              <a:rect l="l" t="t" r="r" b="b"/>
              <a:pathLst>
                <a:path w="1920000" h="1674368">
                  <a:moveTo>
                    <a:pt x="0" y="0"/>
                  </a:moveTo>
                  <a:lnTo>
                    <a:pt x="1920000" y="0"/>
                  </a:lnTo>
                  <a:lnTo>
                    <a:pt x="1920000" y="1674368"/>
                  </a:lnTo>
                  <a:lnTo>
                    <a:pt x="0" y="167436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1920000" cy="1693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4676BE"/>
                  </a:solidFill>
                  <a:latin typeface="Work Sans"/>
                  <a:ea typeface="Work Sans"/>
                  <a:cs typeface="Work Sans"/>
                  <a:sym typeface="Work Sans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396694" y="3807046"/>
            <a:ext cx="3991045" cy="763016"/>
            <a:chOff x="0" y="0"/>
            <a:chExt cx="5321393" cy="101735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321328" cy="1017408"/>
            </a:xfrm>
            <a:custGeom>
              <a:avLst/>
              <a:gdLst/>
              <a:ahLst/>
              <a:cxnLst/>
              <a:rect l="l" t="t" r="r" b="b"/>
              <a:pathLst>
                <a:path w="5321328" h="1017408">
                  <a:moveTo>
                    <a:pt x="5321328" y="0"/>
                  </a:moveTo>
                  <a:lnTo>
                    <a:pt x="0" y="0"/>
                  </a:lnTo>
                  <a:lnTo>
                    <a:pt x="0" y="1017408"/>
                  </a:lnTo>
                  <a:lnTo>
                    <a:pt x="5321328" y="1017408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0"/>
              <a:ext cx="5321393" cy="10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Maintien et refroidissement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4094365" y="3807046"/>
            <a:ext cx="4193635" cy="763016"/>
            <a:chOff x="0" y="0"/>
            <a:chExt cx="5591514" cy="1017355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591446" cy="1017408"/>
            </a:xfrm>
            <a:custGeom>
              <a:avLst/>
              <a:gdLst/>
              <a:ahLst/>
              <a:cxnLst/>
              <a:rect l="l" t="t" r="r" b="b"/>
              <a:pathLst>
                <a:path w="5591446" h="1017408">
                  <a:moveTo>
                    <a:pt x="5591446" y="0"/>
                  </a:moveTo>
                  <a:lnTo>
                    <a:pt x="0" y="0"/>
                  </a:lnTo>
                  <a:lnTo>
                    <a:pt x="0" y="1017408"/>
                  </a:lnTo>
                  <a:lnTo>
                    <a:pt x="5591446" y="1017408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0"/>
              <a:ext cx="5591514" cy="10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Ouverture du moule et éjection</a:t>
              </a:r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9377" y="1009650"/>
            <a:ext cx="18278623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u="sng">
                <a:solidFill>
                  <a:srgbClr val="4676B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Les Phases du processus 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25805" y="2211134"/>
            <a:ext cx="9686363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9"/>
              </a:lnSpc>
              <a:spcBef>
                <a:spcPct val="0"/>
              </a:spcBef>
            </a:pPr>
            <a:r>
              <a:rPr lang="en-US" sz="22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Le cycle d’injection se déroule en quatre étapes principales :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9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05205" y="-133596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1343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3-Presse d’injection : unités principale </a:t>
            </a:r>
          </a:p>
          <a:p>
            <a:pPr algn="ctr">
              <a:lnSpc>
                <a:spcPts val="5399"/>
              </a:lnSpc>
              <a:spcBef>
                <a:spcPct val="0"/>
              </a:spcBef>
            </a:pPr>
            <a:endParaRPr lang="en-US" sz="4499" b="1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10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4925" y="2593119"/>
            <a:ext cx="8937113" cy="5006067"/>
          </a:xfrm>
          <a:custGeom>
            <a:avLst/>
            <a:gdLst/>
            <a:ahLst/>
            <a:cxnLst/>
            <a:rect l="l" t="t" r="r" b="b"/>
            <a:pathLst>
              <a:path w="8937113" h="5006067">
                <a:moveTo>
                  <a:pt x="0" y="0"/>
                </a:moveTo>
                <a:lnTo>
                  <a:pt x="8937113" y="0"/>
                </a:lnTo>
                <a:lnTo>
                  <a:pt x="8937113" y="5006067"/>
                </a:lnTo>
                <a:lnTo>
                  <a:pt x="0" y="50060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9707325" y="2593119"/>
            <a:ext cx="8336099" cy="5006067"/>
          </a:xfrm>
          <a:custGeom>
            <a:avLst/>
            <a:gdLst/>
            <a:ahLst/>
            <a:cxnLst/>
            <a:rect l="l" t="t" r="r" b="b"/>
            <a:pathLst>
              <a:path w="8336099" h="5006067">
                <a:moveTo>
                  <a:pt x="0" y="0"/>
                </a:moveTo>
                <a:lnTo>
                  <a:pt x="8336099" y="0"/>
                </a:lnTo>
                <a:lnTo>
                  <a:pt x="8336099" y="5006067"/>
                </a:lnTo>
                <a:lnTo>
                  <a:pt x="0" y="50060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71" t="-659" b="-196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4" name="TextBox 4"/>
          <p:cNvSpPr txBox="1"/>
          <p:nvPr/>
        </p:nvSpPr>
        <p:spPr>
          <a:xfrm>
            <a:off x="0" y="1387494"/>
            <a:ext cx="18288000" cy="504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u="sng">
                <a:solidFill>
                  <a:srgbClr val="4676BE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Presse d’injection : unités principales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321943" y="8024095"/>
            <a:ext cx="3991059" cy="763016"/>
            <a:chOff x="0" y="0"/>
            <a:chExt cx="5321412" cy="101735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321439" cy="1017405"/>
            </a:xfrm>
            <a:custGeom>
              <a:avLst/>
              <a:gdLst/>
              <a:ahLst/>
              <a:cxnLst/>
              <a:rect l="l" t="t" r="r" b="b"/>
              <a:pathLst>
                <a:path w="5321439" h="1017405">
                  <a:moveTo>
                    <a:pt x="5321439" y="0"/>
                  </a:moveTo>
                  <a:lnTo>
                    <a:pt x="0" y="0"/>
                  </a:lnTo>
                  <a:lnTo>
                    <a:pt x="0" y="1017405"/>
                  </a:lnTo>
                  <a:lnTo>
                    <a:pt x="5321439" y="1017405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321412" cy="10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Presse à injecter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930048" y="8024095"/>
            <a:ext cx="3991059" cy="763016"/>
            <a:chOff x="0" y="0"/>
            <a:chExt cx="5321412" cy="101735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321439" cy="1017405"/>
            </a:xfrm>
            <a:custGeom>
              <a:avLst/>
              <a:gdLst/>
              <a:ahLst/>
              <a:cxnLst/>
              <a:rect l="l" t="t" r="r" b="b"/>
              <a:pathLst>
                <a:path w="5321439" h="1017405">
                  <a:moveTo>
                    <a:pt x="5321439" y="0"/>
                  </a:moveTo>
                  <a:lnTo>
                    <a:pt x="0" y="0"/>
                  </a:lnTo>
                  <a:lnTo>
                    <a:pt x="0" y="1017405"/>
                  </a:lnTo>
                  <a:lnTo>
                    <a:pt x="5321439" y="1017405"/>
                  </a:lnTo>
                  <a:close/>
                </a:path>
              </a:pathLst>
            </a:custGeom>
            <a:solidFill>
              <a:srgbClr val="D1DEF0"/>
            </a:solidFill>
            <a:ln w="12700">
              <a:solidFill>
                <a:srgbClr val="00000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5321412" cy="10173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 b="1">
                  <a:solidFill>
                    <a:srgbClr val="191919"/>
                  </a:solidFill>
                  <a:latin typeface="Montserrat Medium"/>
                  <a:ea typeface="Montserrat Medium"/>
                  <a:cs typeface="Montserrat Medium"/>
                  <a:sym typeface="Montserrat Medium"/>
                </a:rPr>
                <a:t>unités principales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11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 rot="5400000">
            <a:off x="7605205" y="-1335960"/>
            <a:ext cx="3077591" cy="12517994"/>
            <a:chOff x="0" y="0"/>
            <a:chExt cx="4103454" cy="1669065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103512" cy="16690584"/>
            </a:xfrm>
            <a:custGeom>
              <a:avLst/>
              <a:gdLst/>
              <a:ahLst/>
              <a:cxnLst/>
              <a:rect l="l" t="t" r="r" b="b"/>
              <a:pathLst>
                <a:path w="4103512" h="16690584">
                  <a:moveTo>
                    <a:pt x="0" y="16690584"/>
                  </a:moveTo>
                  <a:lnTo>
                    <a:pt x="4103512" y="16690584"/>
                  </a:lnTo>
                  <a:lnTo>
                    <a:pt x="4103512" y="0"/>
                  </a:lnTo>
                  <a:lnTo>
                    <a:pt x="0" y="0"/>
                  </a:lnTo>
                  <a:lnTo>
                    <a:pt x="0" y="16690584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2885003" y="4476750"/>
            <a:ext cx="12517994" cy="666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99"/>
              </a:lnSpc>
              <a:spcBef>
                <a:spcPct val="0"/>
              </a:spcBef>
            </a:pPr>
            <a:r>
              <a:rPr lang="en-US" sz="4499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3- La </a:t>
            </a:r>
            <a:r>
              <a:rPr lang="en-US" sz="4499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Problématique</a:t>
            </a:r>
            <a:endParaRPr lang="en-US" sz="4499" b="1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 dirty="0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12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blipFill>
              <a:blip r:embed="rId2"/>
              <a:stretch>
                <a:fillRect t="-1117" b="-1117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2970210" y="6268050"/>
            <a:ext cx="533580" cy="477148"/>
          </a:xfrm>
          <a:custGeom>
            <a:avLst/>
            <a:gdLst/>
            <a:ahLst/>
            <a:cxnLst/>
            <a:rect l="l" t="t" r="r" b="b"/>
            <a:pathLst>
              <a:path w="533580" h="477148">
                <a:moveTo>
                  <a:pt x="0" y="0"/>
                </a:moveTo>
                <a:lnTo>
                  <a:pt x="533580" y="0"/>
                </a:lnTo>
                <a:lnTo>
                  <a:pt x="533580" y="477148"/>
                </a:lnTo>
                <a:lnTo>
                  <a:pt x="0" y="4771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13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659454" y="370943"/>
            <a:ext cx="16995153" cy="9559774"/>
          </a:xfrm>
          <a:custGeom>
            <a:avLst/>
            <a:gdLst/>
            <a:ahLst/>
            <a:cxnLst/>
            <a:rect l="l" t="t" r="r" b="b"/>
            <a:pathLst>
              <a:path w="16995153" h="9559774">
                <a:moveTo>
                  <a:pt x="0" y="0"/>
                </a:moveTo>
                <a:lnTo>
                  <a:pt x="16995153" y="0"/>
                </a:lnTo>
                <a:lnTo>
                  <a:pt x="16995153" y="9559774"/>
                </a:lnTo>
                <a:lnTo>
                  <a:pt x="0" y="95597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14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625671" y="351940"/>
            <a:ext cx="17074302" cy="9604295"/>
          </a:xfrm>
          <a:custGeom>
            <a:avLst/>
            <a:gdLst/>
            <a:ahLst/>
            <a:cxnLst/>
            <a:rect l="l" t="t" r="r" b="b"/>
            <a:pathLst>
              <a:path w="17074302" h="9604295">
                <a:moveTo>
                  <a:pt x="0" y="0"/>
                </a:moveTo>
                <a:lnTo>
                  <a:pt x="17074302" y="0"/>
                </a:lnTo>
                <a:lnTo>
                  <a:pt x="17074302" y="9604295"/>
                </a:lnTo>
                <a:lnTo>
                  <a:pt x="0" y="96042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15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606366" y="341081"/>
            <a:ext cx="17128355" cy="9634700"/>
          </a:xfrm>
          <a:custGeom>
            <a:avLst/>
            <a:gdLst/>
            <a:ahLst/>
            <a:cxnLst/>
            <a:rect l="l" t="t" r="r" b="b"/>
            <a:pathLst>
              <a:path w="17128355" h="9634700">
                <a:moveTo>
                  <a:pt x="0" y="0"/>
                </a:moveTo>
                <a:lnTo>
                  <a:pt x="17128355" y="0"/>
                </a:lnTo>
                <a:lnTo>
                  <a:pt x="17128355" y="9634700"/>
                </a:lnTo>
                <a:lnTo>
                  <a:pt x="0" y="9634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16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blipFill>
              <a:blip r:embed="rId2"/>
              <a:stretch>
                <a:fillRect t="-1117" b="-1117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17</a:t>
              </a:r>
            </a:p>
          </p:txBody>
        </p:sp>
      </p:grpSp>
      <p:sp>
        <p:nvSpPr>
          <p:cNvPr id="7" name="Freeform 7"/>
          <p:cNvSpPr/>
          <p:nvPr/>
        </p:nvSpPr>
        <p:spPr>
          <a:xfrm>
            <a:off x="6921744" y="2291407"/>
            <a:ext cx="4444511" cy="5704186"/>
          </a:xfrm>
          <a:custGeom>
            <a:avLst/>
            <a:gdLst/>
            <a:ahLst/>
            <a:cxnLst/>
            <a:rect l="l" t="t" r="r" b="b"/>
            <a:pathLst>
              <a:path w="4444511" h="5704186">
                <a:moveTo>
                  <a:pt x="0" y="0"/>
                </a:moveTo>
                <a:lnTo>
                  <a:pt x="4444512" y="0"/>
                </a:lnTo>
                <a:lnTo>
                  <a:pt x="4444512" y="5704186"/>
                </a:lnTo>
                <a:lnTo>
                  <a:pt x="0" y="570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582236" y="327508"/>
            <a:ext cx="17119668" cy="9629813"/>
          </a:xfrm>
          <a:custGeom>
            <a:avLst/>
            <a:gdLst/>
            <a:ahLst/>
            <a:cxnLst/>
            <a:rect l="l" t="t" r="r" b="b"/>
            <a:pathLst>
              <a:path w="17119668" h="9629813">
                <a:moveTo>
                  <a:pt x="0" y="0"/>
                </a:moveTo>
                <a:lnTo>
                  <a:pt x="17119667" y="0"/>
                </a:lnTo>
                <a:lnTo>
                  <a:pt x="17119667" y="9629813"/>
                </a:lnTo>
                <a:lnTo>
                  <a:pt x="0" y="96298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576444" y="331308"/>
            <a:ext cx="17122564" cy="9631442"/>
          </a:xfrm>
          <a:custGeom>
            <a:avLst/>
            <a:gdLst/>
            <a:ahLst/>
            <a:cxnLst/>
            <a:rect l="l" t="t" r="r" b="b"/>
            <a:pathLst>
              <a:path w="17122564" h="9631442">
                <a:moveTo>
                  <a:pt x="0" y="0"/>
                </a:moveTo>
                <a:lnTo>
                  <a:pt x="17122564" y="0"/>
                </a:lnTo>
                <a:lnTo>
                  <a:pt x="17122564" y="9631442"/>
                </a:lnTo>
                <a:lnTo>
                  <a:pt x="0" y="96314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18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9304984" y="508582"/>
            <a:ext cx="8408858" cy="9356042"/>
            <a:chOff x="0" y="0"/>
            <a:chExt cx="11211811" cy="124747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211814" cy="12474702"/>
            </a:xfrm>
            <a:custGeom>
              <a:avLst/>
              <a:gdLst/>
              <a:ahLst/>
              <a:cxnLst/>
              <a:rect l="l" t="t" r="r" b="b"/>
              <a:pathLst>
                <a:path w="11211814" h="12474702">
                  <a:moveTo>
                    <a:pt x="0" y="0"/>
                  </a:moveTo>
                  <a:lnTo>
                    <a:pt x="11211814" y="0"/>
                  </a:lnTo>
                  <a:lnTo>
                    <a:pt x="11211814" y="12474702"/>
                  </a:lnTo>
                  <a:lnTo>
                    <a:pt x="0" y="12474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1188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2425717" y="251058"/>
            <a:ext cx="122362" cy="9790989"/>
          </a:xfrm>
          <a:custGeom>
            <a:avLst/>
            <a:gdLst/>
            <a:ahLst/>
            <a:cxnLst/>
            <a:rect l="l" t="t" r="r" b="b"/>
            <a:pathLst>
              <a:path w="122362" h="9790989">
                <a:moveTo>
                  <a:pt x="0" y="0"/>
                </a:moveTo>
                <a:lnTo>
                  <a:pt x="122362" y="0"/>
                </a:lnTo>
                <a:lnTo>
                  <a:pt x="122362" y="9790989"/>
                </a:lnTo>
                <a:lnTo>
                  <a:pt x="0" y="97909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2540410" y="235801"/>
            <a:ext cx="6131721" cy="9781889"/>
            <a:chOff x="1450211" y="0"/>
            <a:chExt cx="8175628" cy="13042518"/>
          </a:xfrm>
        </p:grpSpPr>
        <p:sp>
          <p:nvSpPr>
            <p:cNvPr id="8" name="Freeform 8"/>
            <p:cNvSpPr/>
            <p:nvPr/>
          </p:nvSpPr>
          <p:spPr>
            <a:xfrm>
              <a:off x="1450211" y="0"/>
              <a:ext cx="8175628" cy="13042518"/>
            </a:xfrm>
            <a:custGeom>
              <a:avLst/>
              <a:gdLst/>
              <a:ahLst/>
              <a:cxnLst/>
              <a:rect l="l" t="t" r="r" b="b"/>
              <a:pathLst>
                <a:path w="9625838" h="13042519">
                  <a:moveTo>
                    <a:pt x="0" y="13042519"/>
                  </a:moveTo>
                  <a:lnTo>
                    <a:pt x="9625838" y="13042519"/>
                  </a:lnTo>
                  <a:lnTo>
                    <a:pt x="9625838" y="0"/>
                  </a:lnTo>
                  <a:lnTo>
                    <a:pt x="0" y="0"/>
                  </a:lnTo>
                  <a:lnTo>
                    <a:pt x="0" y="13042519"/>
                  </a:lnTo>
                  <a:close/>
                </a:path>
              </a:pathLst>
            </a:custGeom>
            <a:solidFill>
              <a:srgbClr val="F1F1F1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8700662" y="255182"/>
            <a:ext cx="234526" cy="9781933"/>
            <a:chOff x="0" y="0"/>
            <a:chExt cx="312702" cy="1304257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12674" cy="13042519"/>
            </a:xfrm>
            <a:custGeom>
              <a:avLst/>
              <a:gdLst/>
              <a:ahLst/>
              <a:cxnLst/>
              <a:rect l="l" t="t" r="r" b="b"/>
              <a:pathLst>
                <a:path w="312674" h="13042519">
                  <a:moveTo>
                    <a:pt x="312674" y="0"/>
                  </a:moveTo>
                  <a:lnTo>
                    <a:pt x="0" y="0"/>
                  </a:lnTo>
                  <a:lnTo>
                    <a:pt x="0" y="13042519"/>
                  </a:lnTo>
                  <a:lnTo>
                    <a:pt x="312674" y="13042519"/>
                  </a:lnTo>
                  <a:lnTo>
                    <a:pt x="312674" y="0"/>
                  </a:lnTo>
                  <a:close/>
                </a:path>
              </a:pathLst>
            </a:custGeom>
            <a:solidFill>
              <a:srgbClr val="4AA2D9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11" name="TextBox 11"/>
          <p:cNvSpPr txBox="1"/>
          <p:nvPr/>
        </p:nvSpPr>
        <p:spPr>
          <a:xfrm>
            <a:off x="3124815" y="4164943"/>
            <a:ext cx="520603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4200" b="1" dirty="0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les actions </a:t>
            </a:r>
            <a:r>
              <a:rPr lang="en-US" sz="4200" b="1" dirty="0" err="1">
                <a:solidFill>
                  <a:srgbClr val="000000"/>
                </a:solidFill>
                <a:latin typeface="Tahoma Bold"/>
                <a:ea typeface="Tahoma Bold"/>
                <a:cs typeface="Tahoma Bold"/>
                <a:sym typeface="Tahoma Bold"/>
              </a:rPr>
              <a:t>d’améliorations</a:t>
            </a:r>
            <a:endParaRPr lang="en-US" sz="4200" b="1" dirty="0">
              <a:solidFill>
                <a:srgbClr val="000000"/>
              </a:solidFill>
              <a:latin typeface="Tahoma Bold"/>
              <a:ea typeface="Tahoma Bold"/>
              <a:cs typeface="Tahoma Bold"/>
              <a:sym typeface="Tahoma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19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001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blipFill>
              <a:blip r:embed="rId2">
                <a:alphaModFix amt="51000"/>
              </a:blip>
              <a:stretch>
                <a:fillRect t="-10638" b="-10638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1163853" y="1238733"/>
            <a:ext cx="4564327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sz="3200" b="1">
                <a:solidFill>
                  <a:srgbClr val="000000"/>
                </a:solidFill>
                <a:latin typeface="Fira Sans Medium"/>
                <a:ea typeface="Fira Sans Medium"/>
                <a:cs typeface="Fira Sans Medium"/>
                <a:sym typeface="Fira Sans Medium"/>
              </a:rPr>
              <a:t>Tableau : la démarche 5S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1.Généralité sur 5S 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20</a:t>
              </a:r>
            </a:p>
          </p:txBody>
        </p:sp>
      </p:grpSp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5C62C18-3338-C5DF-99CF-D64EB7E7C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073" y="692680"/>
            <a:ext cx="9601200" cy="8901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001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blipFill>
              <a:blip r:embed="rId2">
                <a:alphaModFix amt="51000"/>
              </a:blip>
              <a:stretch>
                <a:fillRect t="-10638" b="-1063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2.L’évaluation de l’état de 5S dans la zone d’injection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21</a:t>
              </a:r>
            </a:p>
          </p:txBody>
        </p:sp>
      </p:grpSp>
      <p:pic>
        <p:nvPicPr>
          <p:cNvPr id="11" name="Image 10" descr="Une image contenant texte, capture d’écran, nombre, document&#10;&#10;Le contenu généré par l’IA peut être incorrect.">
            <a:extLst>
              <a:ext uri="{FF2B5EF4-FFF2-40B4-BE49-F238E27FC236}">
                <a16:creationId xmlns:a16="http://schemas.microsoft.com/office/drawing/2014/main" id="{BAB15FFE-455D-7EAF-9696-A61961158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7239" y="1187274"/>
            <a:ext cx="6574761" cy="8488932"/>
          </a:xfrm>
          <a:prstGeom prst="rect">
            <a:avLst/>
          </a:prstGeom>
        </p:spPr>
      </p:pic>
      <p:pic>
        <p:nvPicPr>
          <p:cNvPr id="13" name="Image 12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DE39589C-D014-0DF1-A690-C85E0A602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9200" y="1198480"/>
            <a:ext cx="7107400" cy="848893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aphicFrame>
        <p:nvGraphicFramePr>
          <p:cNvPr id="4" name="Object 4"/>
          <p:cNvGraphicFramePr/>
          <p:nvPr/>
        </p:nvGraphicFramePr>
        <p:xfrm>
          <a:off x="1631534" y="2083616"/>
          <a:ext cx="9429750" cy="440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315700" imgH="6286500" progId="Excel.Sheet.12">
                  <p:embed/>
                </p:oleObj>
              </mc:Choice>
              <mc:Fallback>
                <p:oleObj name="Worksheet" r:id="rId2" imgW="11315700" imgH="62865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31534" y="2083616"/>
                        <a:ext cx="9429750" cy="4400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5"/>
          <p:cNvGrpSpPr/>
          <p:nvPr/>
        </p:nvGrpSpPr>
        <p:grpSpPr>
          <a:xfrm>
            <a:off x="3806015" y="5214677"/>
            <a:ext cx="10215165" cy="4092301"/>
            <a:chOff x="0" y="0"/>
            <a:chExt cx="32566305" cy="1304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2566347" cy="13046456"/>
            </a:xfrm>
            <a:custGeom>
              <a:avLst/>
              <a:gdLst/>
              <a:ahLst/>
              <a:cxnLst/>
              <a:rect l="l" t="t" r="r" b="b"/>
              <a:pathLst>
                <a:path w="32566347" h="13046456">
                  <a:moveTo>
                    <a:pt x="0" y="543941"/>
                  </a:moveTo>
                  <a:cubicBezTo>
                    <a:pt x="0" y="243459"/>
                    <a:pt x="334369" y="0"/>
                    <a:pt x="747054" y="0"/>
                  </a:cubicBezTo>
                  <a:lnTo>
                    <a:pt x="31819310" y="0"/>
                  </a:lnTo>
                  <a:cubicBezTo>
                    <a:pt x="32231822" y="0"/>
                    <a:pt x="32566347" y="243459"/>
                    <a:pt x="32566347" y="543941"/>
                  </a:cubicBezTo>
                  <a:lnTo>
                    <a:pt x="32566347" y="12502515"/>
                  </a:lnTo>
                  <a:cubicBezTo>
                    <a:pt x="32566347" y="12802870"/>
                    <a:pt x="32231995" y="13046456"/>
                    <a:pt x="31819310" y="13046456"/>
                  </a:cubicBezTo>
                  <a:lnTo>
                    <a:pt x="747054" y="13046456"/>
                  </a:lnTo>
                  <a:cubicBezTo>
                    <a:pt x="334369" y="13046456"/>
                    <a:pt x="0" y="12802870"/>
                    <a:pt x="0" y="12502515"/>
                  </a:cubicBezTo>
                  <a:close/>
                </a:path>
              </a:pathLst>
            </a:custGeom>
            <a:blipFill>
              <a:blip r:embed="rId4"/>
              <a:stretch>
                <a:fillRect t="-391" b="-391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0178346" y="1391060"/>
            <a:ext cx="6019276" cy="3619090"/>
          </a:xfrm>
          <a:custGeom>
            <a:avLst/>
            <a:gdLst/>
            <a:ahLst/>
            <a:cxnLst/>
            <a:rect l="l" t="t" r="r" b="b"/>
            <a:pathLst>
              <a:path w="6019276" h="3619090">
                <a:moveTo>
                  <a:pt x="0" y="0"/>
                </a:moveTo>
                <a:lnTo>
                  <a:pt x="6019276" y="0"/>
                </a:lnTo>
                <a:lnTo>
                  <a:pt x="6019276" y="3619090"/>
                </a:lnTo>
                <a:lnTo>
                  <a:pt x="0" y="36190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345825" y="9495835"/>
            <a:ext cx="3596349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sz="250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Visualisation</a:t>
            </a:r>
            <a:r>
              <a:rPr lang="en-US" sz="250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des causes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42582" y="1523586"/>
            <a:ext cx="5328510" cy="342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sz="230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Pourcentage de cotation de 5S générale.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9923" y="409575"/>
            <a:ext cx="1525679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L’évaluation de l’état de 5S dans la zone d’injection (suite)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85353" y="5076825"/>
            <a:ext cx="4005262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000"/>
              </a:lnSpc>
              <a:spcBef>
                <a:spcPct val="0"/>
              </a:spcBef>
            </a:pPr>
            <a:r>
              <a:rPr lang="en-US" sz="2500" b="1" u="none" strike="noStrike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chéma radar de 5S générale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22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6320198" y="2780883"/>
            <a:ext cx="5646227" cy="3113187"/>
          </a:xfrm>
          <a:custGeom>
            <a:avLst/>
            <a:gdLst/>
            <a:ahLst/>
            <a:cxnLst/>
            <a:rect l="l" t="t" r="r" b="b"/>
            <a:pathLst>
              <a:path w="5646227" h="3113187">
                <a:moveTo>
                  <a:pt x="0" y="0"/>
                </a:moveTo>
                <a:lnTo>
                  <a:pt x="5646227" y="0"/>
                </a:lnTo>
                <a:lnTo>
                  <a:pt x="5646227" y="3113187"/>
                </a:lnTo>
                <a:lnTo>
                  <a:pt x="0" y="31131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70137" y="6106405"/>
            <a:ext cx="5996847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IPR = </a:t>
            </a:r>
            <a:r>
              <a:rPr lang="en-US" sz="2799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Gravité</a:t>
            </a:r>
            <a:r>
              <a:rPr lang="en-US" sz="2799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× </a:t>
            </a:r>
            <a:r>
              <a:rPr lang="en-US" sz="2799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Fréquence</a:t>
            </a:r>
            <a:r>
              <a:rPr lang="en-US" sz="2799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× </a:t>
            </a:r>
            <a:r>
              <a:rPr lang="en-US" sz="2799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Détection</a:t>
            </a:r>
            <a:endParaRPr lang="en-US" sz="2799" b="1" dirty="0">
              <a:solidFill>
                <a:srgbClr val="000000"/>
              </a:solidFill>
              <a:latin typeface="Fira Sans Bold"/>
              <a:ea typeface="Fira Sans Bold"/>
              <a:cs typeface="Fira Sans Bold"/>
              <a:sym typeface="Fira Sans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1519027"/>
            <a:ext cx="14649760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6"/>
              </a:lnSpc>
              <a:spcBef>
                <a:spcPct val="0"/>
              </a:spcBef>
            </a:pP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Les grilles de </a:t>
            </a:r>
            <a:r>
              <a:rPr lang="en-US" sz="1630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cotation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ci-dessous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ont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été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élaborées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à la suite de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réunions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avec le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groupe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de travail,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ainsi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que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d'échanges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avec les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responsables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de service et les </a:t>
            </a:r>
            <a:r>
              <a:rPr lang="en-US" sz="1630" b="1" dirty="0" err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techniciens</a:t>
            </a:r>
            <a:r>
              <a:rPr lang="en-US" sz="1630" b="1" dirty="0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 de maintenance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3.Les grilles de cotation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23</a:t>
              </a:r>
            </a:p>
          </p:txBody>
        </p:sp>
      </p:grpSp>
      <p:pic>
        <p:nvPicPr>
          <p:cNvPr id="18" name="Image 1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1B9251D6-F3D3-50E4-E8DC-D18B7694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51" y="7031117"/>
            <a:ext cx="6488048" cy="2644809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73122327-39C5-A41C-8D4B-7706A26FD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6399" y="2531072"/>
            <a:ext cx="5646227" cy="4140566"/>
          </a:xfrm>
          <a:prstGeom prst="rect">
            <a:avLst/>
          </a:prstGeom>
        </p:spPr>
      </p:pic>
      <p:pic>
        <p:nvPicPr>
          <p:cNvPr id="22" name="Image 21" descr="Une image contenant texte, capture d’écran, nombre, Police&#10;&#10;Le contenu généré par l’IA peut être incorrect.">
            <a:extLst>
              <a:ext uri="{FF2B5EF4-FFF2-40B4-BE49-F238E27FC236}">
                <a16:creationId xmlns:a16="http://schemas.microsoft.com/office/drawing/2014/main" id="{A7FC6C8D-DDBD-1FF5-0686-61F7461E61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154" y="2660348"/>
            <a:ext cx="5533555" cy="401182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298" y="1776410"/>
            <a:ext cx="3614578" cy="36145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r="-337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2298" y="5984292"/>
            <a:ext cx="3614578" cy="3614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r="-3377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430451" y="1776410"/>
            <a:ext cx="3614578" cy="3614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r="-3377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430451" y="6225150"/>
            <a:ext cx="3614578" cy="36145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6889" r="-168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5400000">
            <a:off x="4902880" y="-518684"/>
            <a:ext cx="8482239" cy="12234586"/>
          </a:xfrm>
          <a:custGeom>
            <a:avLst/>
            <a:gdLst/>
            <a:ahLst/>
            <a:cxnLst/>
            <a:rect l="l" t="t" r="r" b="b"/>
            <a:pathLst>
              <a:path w="8482239" h="12234586">
                <a:moveTo>
                  <a:pt x="0" y="0"/>
                </a:moveTo>
                <a:lnTo>
                  <a:pt x="8482240" y="0"/>
                </a:lnTo>
                <a:lnTo>
                  <a:pt x="8482240" y="12234585"/>
                </a:lnTo>
                <a:lnTo>
                  <a:pt x="0" y="122345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3" r="-493" b="-2138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4. Application de l’AMDEC SUR (DAMAGE 420T) 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24</a:t>
              </a:r>
            </a:p>
          </p:txBody>
        </p:sp>
      </p:grp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298" y="1776410"/>
            <a:ext cx="3614578" cy="36145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r="-337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2298" y="5984292"/>
            <a:ext cx="3614578" cy="3614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r="-3377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430451" y="1776410"/>
            <a:ext cx="3614578" cy="3614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r="-3377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430451" y="6225150"/>
            <a:ext cx="3614578" cy="36145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6889" r="-168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5400000">
            <a:off x="5041101" y="-318079"/>
            <a:ext cx="8344855" cy="11611628"/>
          </a:xfrm>
          <a:custGeom>
            <a:avLst/>
            <a:gdLst/>
            <a:ahLst/>
            <a:cxnLst/>
            <a:rect l="l" t="t" r="r" b="b"/>
            <a:pathLst>
              <a:path w="8344855" h="11611628">
                <a:moveTo>
                  <a:pt x="0" y="0"/>
                </a:moveTo>
                <a:lnTo>
                  <a:pt x="8344855" y="0"/>
                </a:lnTo>
                <a:lnTo>
                  <a:pt x="8344855" y="11611628"/>
                </a:lnTo>
                <a:lnTo>
                  <a:pt x="0" y="1161162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353" r="-353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Application de l’AMDEC SUR DEMAG 420T (suite) 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25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430451" y="1776410"/>
            <a:ext cx="3614578" cy="361457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r="-33779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52298" y="1776410"/>
            <a:ext cx="3614578" cy="361457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r="-33779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252298" y="5984292"/>
            <a:ext cx="3614578" cy="361457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r="-33779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4430451" y="6225150"/>
            <a:ext cx="3614578" cy="361457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-16889" r="-1688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 rot="5400000">
            <a:off x="5029200" y="-1248879"/>
            <a:ext cx="8229600" cy="13744635"/>
          </a:xfrm>
          <a:custGeom>
            <a:avLst/>
            <a:gdLst/>
            <a:ahLst/>
            <a:cxnLst/>
            <a:rect l="l" t="t" r="r" b="b"/>
            <a:pathLst>
              <a:path w="8229600" h="13744635">
                <a:moveTo>
                  <a:pt x="0" y="0"/>
                </a:moveTo>
                <a:lnTo>
                  <a:pt x="8229600" y="0"/>
                </a:lnTo>
                <a:lnTo>
                  <a:pt x="8229600" y="13744635"/>
                </a:lnTo>
                <a:lnTo>
                  <a:pt x="0" y="13744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Application de l’AMDEC SUR (DAMAGE 420T) (suite) :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26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13037995" y="4362058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037995" y="6684508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8543" y="4362058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618543" y="6684510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1184300" y="1647633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9" name="Group 9"/>
          <p:cNvGrpSpPr/>
          <p:nvPr/>
        </p:nvGrpSpPr>
        <p:grpSpPr>
          <a:xfrm>
            <a:off x="894029" y="6892702"/>
            <a:ext cx="4080600" cy="1052271"/>
            <a:chOff x="0" y="0"/>
            <a:chExt cx="5440800" cy="140302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440800" cy="1403028"/>
            </a:xfrm>
            <a:custGeom>
              <a:avLst/>
              <a:gdLst/>
              <a:ahLst/>
              <a:cxnLst/>
              <a:rect l="l" t="t" r="r" b="b"/>
              <a:pathLst>
                <a:path w="5440800" h="1403028">
                  <a:moveTo>
                    <a:pt x="0" y="0"/>
                  </a:moveTo>
                  <a:lnTo>
                    <a:pt x="5440800" y="0"/>
                  </a:lnTo>
                  <a:lnTo>
                    <a:pt x="5440800" y="1403028"/>
                  </a:lnTo>
                  <a:lnTo>
                    <a:pt x="0" y="14030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0"/>
              <a:ext cx="5440800" cy="1403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4AA2D9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Tuyauterie – fuite d’huile / vibrations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459786" y="1902945"/>
            <a:ext cx="4080600" cy="1052271"/>
            <a:chOff x="0" y="0"/>
            <a:chExt cx="5440800" cy="140302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440800" cy="1403028"/>
            </a:xfrm>
            <a:custGeom>
              <a:avLst/>
              <a:gdLst/>
              <a:ahLst/>
              <a:cxnLst/>
              <a:rect l="l" t="t" r="r" b="b"/>
              <a:pathLst>
                <a:path w="5440800" h="1403028">
                  <a:moveTo>
                    <a:pt x="0" y="0"/>
                  </a:moveTo>
                  <a:lnTo>
                    <a:pt x="5440800" y="0"/>
                  </a:lnTo>
                  <a:lnTo>
                    <a:pt x="5440800" y="1403028"/>
                  </a:lnTo>
                  <a:lnTo>
                    <a:pt x="0" y="14030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440800" cy="1403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25050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Thermorégulateur – surchauffe du moule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6833898" y="8476853"/>
            <a:ext cx="4631572" cy="1562894"/>
          </a:xfrm>
          <a:custGeom>
            <a:avLst/>
            <a:gdLst/>
            <a:ahLst/>
            <a:cxnLst/>
            <a:rect l="l" t="t" r="r" b="b"/>
            <a:pathLst>
              <a:path w="4631572" h="1562894">
                <a:moveTo>
                  <a:pt x="0" y="0"/>
                </a:moveTo>
                <a:lnTo>
                  <a:pt x="4631572" y="0"/>
                </a:lnTo>
                <a:lnTo>
                  <a:pt x="4631572" y="1562894"/>
                </a:lnTo>
                <a:lnTo>
                  <a:pt x="0" y="156289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7146761" y="8538753"/>
            <a:ext cx="4080600" cy="1471371"/>
            <a:chOff x="0" y="0"/>
            <a:chExt cx="5440800" cy="196182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5440800" cy="1961828"/>
            </a:xfrm>
            <a:custGeom>
              <a:avLst/>
              <a:gdLst/>
              <a:ahLst/>
              <a:cxnLst/>
              <a:rect l="l" t="t" r="r" b="b"/>
              <a:pathLst>
                <a:path w="5440800" h="1961828">
                  <a:moveTo>
                    <a:pt x="0" y="0"/>
                  </a:moveTo>
                  <a:lnTo>
                    <a:pt x="5440800" y="0"/>
                  </a:lnTo>
                  <a:lnTo>
                    <a:pt x="5440800" y="1961828"/>
                  </a:lnTo>
                  <a:lnTo>
                    <a:pt x="0" y="19618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8" name="TextBox 18"/>
            <p:cNvSpPr txBox="1"/>
            <p:nvPr/>
          </p:nvSpPr>
          <p:spPr>
            <a:xfrm>
              <a:off x="0" y="0"/>
              <a:ext cx="5440800" cy="19618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 u="none" strike="noStrike">
                  <a:solidFill>
                    <a:srgbClr val="4AA2D9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Canaux de refroidissement – variation température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335096" y="4617364"/>
            <a:ext cx="4080600" cy="1052271"/>
            <a:chOff x="0" y="0"/>
            <a:chExt cx="5440800" cy="140302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440800" cy="1403028"/>
            </a:xfrm>
            <a:custGeom>
              <a:avLst/>
              <a:gdLst/>
              <a:ahLst/>
              <a:cxnLst/>
              <a:rect l="l" t="t" r="r" b="b"/>
              <a:pathLst>
                <a:path w="5440800" h="1403028">
                  <a:moveTo>
                    <a:pt x="0" y="0"/>
                  </a:moveTo>
                  <a:lnTo>
                    <a:pt x="5440800" y="0"/>
                  </a:lnTo>
                  <a:lnTo>
                    <a:pt x="5440800" y="1403028"/>
                  </a:lnTo>
                  <a:lnTo>
                    <a:pt x="0" y="14030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0"/>
              <a:ext cx="5440800" cy="1403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749096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Roulements – usure prématurée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3313481" y="7014485"/>
            <a:ext cx="4080600" cy="1052271"/>
            <a:chOff x="0" y="0"/>
            <a:chExt cx="5440800" cy="14030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440800" cy="1403028"/>
            </a:xfrm>
            <a:custGeom>
              <a:avLst/>
              <a:gdLst/>
              <a:ahLst/>
              <a:cxnLst/>
              <a:rect l="l" t="t" r="r" b="b"/>
              <a:pathLst>
                <a:path w="5440800" h="1403028">
                  <a:moveTo>
                    <a:pt x="0" y="0"/>
                  </a:moveTo>
                  <a:lnTo>
                    <a:pt x="5440800" y="0"/>
                  </a:lnTo>
                  <a:lnTo>
                    <a:pt x="5440800" y="1403028"/>
                  </a:lnTo>
                  <a:lnTo>
                    <a:pt x="0" y="140302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0"/>
              <a:ext cx="5440800" cy="140302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0" lvl="0" indent="0"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4AA2D9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Surfac</a:t>
              </a:r>
              <a:r>
                <a:rPr lang="en-US" sz="2799" b="1" u="none" strike="noStrike">
                  <a:solidFill>
                    <a:srgbClr val="4AA2D9"/>
                  </a:solidFill>
                  <a:latin typeface="Fira Sans Bold"/>
                  <a:ea typeface="Fira Sans Bold"/>
                  <a:cs typeface="Fira Sans Bold"/>
                  <a:sym typeface="Fira Sans Bold"/>
                </a:rPr>
                <a:t>e de moulage rayée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776278" y="2821043"/>
            <a:ext cx="4746812" cy="4719578"/>
            <a:chOff x="0" y="0"/>
            <a:chExt cx="2152600" cy="21402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152650" cy="2140300"/>
            </a:xfrm>
            <a:custGeom>
              <a:avLst/>
              <a:gdLst/>
              <a:ahLst/>
              <a:cxnLst/>
              <a:rect l="l" t="t" r="r" b="b"/>
              <a:pathLst>
                <a:path w="2152650" h="2140300">
                  <a:moveTo>
                    <a:pt x="0" y="1070150"/>
                  </a:moveTo>
                  <a:cubicBezTo>
                    <a:pt x="0" y="479073"/>
                    <a:pt x="481838" y="0"/>
                    <a:pt x="1076325" y="0"/>
                  </a:cubicBezTo>
                  <a:lnTo>
                    <a:pt x="1076325" y="12627"/>
                  </a:lnTo>
                  <a:lnTo>
                    <a:pt x="1076325" y="0"/>
                  </a:lnTo>
                  <a:cubicBezTo>
                    <a:pt x="1670812" y="0"/>
                    <a:pt x="2152650" y="479073"/>
                    <a:pt x="2152650" y="1070150"/>
                  </a:cubicBezTo>
                  <a:lnTo>
                    <a:pt x="2139950" y="1070150"/>
                  </a:lnTo>
                  <a:lnTo>
                    <a:pt x="2152650" y="1070150"/>
                  </a:lnTo>
                  <a:cubicBezTo>
                    <a:pt x="2152650" y="1661226"/>
                    <a:pt x="1670812" y="2140300"/>
                    <a:pt x="1076325" y="2140300"/>
                  </a:cubicBezTo>
                  <a:lnTo>
                    <a:pt x="1076325" y="2127672"/>
                  </a:lnTo>
                  <a:lnTo>
                    <a:pt x="1076325" y="2140300"/>
                  </a:lnTo>
                  <a:cubicBezTo>
                    <a:pt x="481838" y="2140300"/>
                    <a:pt x="0" y="1661100"/>
                    <a:pt x="0" y="1070150"/>
                  </a:cubicBezTo>
                  <a:lnTo>
                    <a:pt x="12700" y="1070150"/>
                  </a:lnTo>
                  <a:lnTo>
                    <a:pt x="25400" y="1070150"/>
                  </a:lnTo>
                  <a:lnTo>
                    <a:pt x="12700" y="1070150"/>
                  </a:lnTo>
                  <a:lnTo>
                    <a:pt x="0" y="1070150"/>
                  </a:lnTo>
                  <a:moveTo>
                    <a:pt x="25400" y="1070150"/>
                  </a:moveTo>
                  <a:cubicBezTo>
                    <a:pt x="25400" y="1077095"/>
                    <a:pt x="19685" y="1082777"/>
                    <a:pt x="12700" y="1082777"/>
                  </a:cubicBezTo>
                  <a:cubicBezTo>
                    <a:pt x="5715" y="1082777"/>
                    <a:pt x="0" y="1077095"/>
                    <a:pt x="0" y="1070150"/>
                  </a:cubicBezTo>
                  <a:cubicBezTo>
                    <a:pt x="0" y="1063205"/>
                    <a:pt x="5715" y="1057523"/>
                    <a:pt x="12700" y="1057523"/>
                  </a:cubicBezTo>
                  <a:cubicBezTo>
                    <a:pt x="19685" y="1057523"/>
                    <a:pt x="25400" y="1063205"/>
                    <a:pt x="25400" y="1070150"/>
                  </a:cubicBezTo>
                  <a:cubicBezTo>
                    <a:pt x="25400" y="1647210"/>
                    <a:pt x="495935" y="2115045"/>
                    <a:pt x="1076325" y="2115045"/>
                  </a:cubicBezTo>
                  <a:cubicBezTo>
                    <a:pt x="1656715" y="2115045"/>
                    <a:pt x="2127250" y="1647210"/>
                    <a:pt x="2127250" y="1070150"/>
                  </a:cubicBezTo>
                  <a:cubicBezTo>
                    <a:pt x="2127250" y="493090"/>
                    <a:pt x="1656715" y="25254"/>
                    <a:pt x="1076325" y="25254"/>
                  </a:cubicBezTo>
                  <a:lnTo>
                    <a:pt x="1076325" y="12627"/>
                  </a:lnTo>
                  <a:lnTo>
                    <a:pt x="1076325" y="25254"/>
                  </a:lnTo>
                  <a:cubicBezTo>
                    <a:pt x="495935" y="25254"/>
                    <a:pt x="25400" y="493090"/>
                    <a:pt x="25400" y="1070150"/>
                  </a:cubicBezTo>
                  <a:close/>
                </a:path>
              </a:pathLst>
            </a:custGeom>
            <a:solidFill>
              <a:srgbClr val="00000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 rot="5400000">
            <a:off x="8386799" y="6838578"/>
            <a:ext cx="1614450" cy="1614450"/>
            <a:chOff x="0" y="0"/>
            <a:chExt cx="2152600" cy="2152600"/>
          </a:xfrm>
        </p:grpSpPr>
        <p:sp>
          <p:nvSpPr>
            <p:cNvPr id="28" name="Freeform 28"/>
            <p:cNvSpPr/>
            <p:nvPr/>
          </p:nvSpPr>
          <p:spPr>
            <a:xfrm>
              <a:off x="12700" y="12700"/>
              <a:ext cx="2127250" cy="2127250"/>
            </a:xfrm>
            <a:custGeom>
              <a:avLst/>
              <a:gdLst/>
              <a:ahLst/>
              <a:cxnLst/>
              <a:rect l="l" t="t" r="r" b="b"/>
              <a:pathLst>
                <a:path w="2127250" h="2127250">
                  <a:moveTo>
                    <a:pt x="0" y="1063625"/>
                  </a:moveTo>
                  <a:cubicBezTo>
                    <a:pt x="0" y="476250"/>
                    <a:pt x="476250" y="0"/>
                    <a:pt x="1063625" y="0"/>
                  </a:cubicBezTo>
                  <a:cubicBezTo>
                    <a:pt x="1651000" y="0"/>
                    <a:pt x="2127250" y="476250"/>
                    <a:pt x="2127250" y="1063625"/>
                  </a:cubicBezTo>
                  <a:cubicBezTo>
                    <a:pt x="2127250" y="1651000"/>
                    <a:pt x="1651000" y="2127250"/>
                    <a:pt x="1063625" y="2127250"/>
                  </a:cubicBezTo>
                  <a:cubicBezTo>
                    <a:pt x="476250" y="2127250"/>
                    <a:pt x="0" y="1651000"/>
                    <a:pt x="0" y="106362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2152650" cy="2152650"/>
            </a:xfrm>
            <a:custGeom>
              <a:avLst/>
              <a:gdLst/>
              <a:ahLst/>
              <a:cxnLst/>
              <a:rect l="l" t="t" r="r" b="b"/>
              <a:pathLst>
                <a:path w="2152650" h="2152650">
                  <a:moveTo>
                    <a:pt x="0" y="1076325"/>
                  </a:moveTo>
                  <a:cubicBezTo>
                    <a:pt x="0" y="481838"/>
                    <a:pt x="481838" y="0"/>
                    <a:pt x="1076325" y="0"/>
                  </a:cubicBezTo>
                  <a:lnTo>
                    <a:pt x="1076325" y="12700"/>
                  </a:lnTo>
                  <a:lnTo>
                    <a:pt x="1076325" y="0"/>
                  </a:lnTo>
                  <a:cubicBezTo>
                    <a:pt x="1670812" y="0"/>
                    <a:pt x="2152650" y="481838"/>
                    <a:pt x="2152650" y="1076325"/>
                  </a:cubicBezTo>
                  <a:lnTo>
                    <a:pt x="2139950" y="1076325"/>
                  </a:lnTo>
                  <a:lnTo>
                    <a:pt x="2152650" y="1076325"/>
                  </a:lnTo>
                  <a:cubicBezTo>
                    <a:pt x="2152650" y="1670812"/>
                    <a:pt x="1670812" y="2152650"/>
                    <a:pt x="1076325" y="2152650"/>
                  </a:cubicBezTo>
                  <a:lnTo>
                    <a:pt x="1076325" y="2139950"/>
                  </a:lnTo>
                  <a:lnTo>
                    <a:pt x="1076325" y="2152650"/>
                  </a:lnTo>
                  <a:cubicBezTo>
                    <a:pt x="481838" y="2152650"/>
                    <a:pt x="0" y="1670685"/>
                    <a:pt x="0" y="1076325"/>
                  </a:cubicBezTo>
                  <a:lnTo>
                    <a:pt x="12700" y="1076325"/>
                  </a:lnTo>
                  <a:lnTo>
                    <a:pt x="25400" y="1076325"/>
                  </a:lnTo>
                  <a:lnTo>
                    <a:pt x="12700" y="1076325"/>
                  </a:lnTo>
                  <a:lnTo>
                    <a:pt x="0" y="1076325"/>
                  </a:lnTo>
                  <a:moveTo>
                    <a:pt x="25400" y="1076325"/>
                  </a:moveTo>
                  <a:cubicBezTo>
                    <a:pt x="25400" y="1083310"/>
                    <a:pt x="19685" y="1089025"/>
                    <a:pt x="12700" y="1089025"/>
                  </a:cubicBezTo>
                  <a:cubicBezTo>
                    <a:pt x="5715" y="1089025"/>
                    <a:pt x="0" y="1083310"/>
                    <a:pt x="0" y="1076325"/>
                  </a:cubicBezTo>
                  <a:cubicBezTo>
                    <a:pt x="0" y="1069340"/>
                    <a:pt x="5715" y="1063625"/>
                    <a:pt x="12700" y="1063625"/>
                  </a:cubicBezTo>
                  <a:cubicBezTo>
                    <a:pt x="19685" y="1063625"/>
                    <a:pt x="25400" y="1069340"/>
                    <a:pt x="25400" y="1076325"/>
                  </a:cubicBezTo>
                  <a:cubicBezTo>
                    <a:pt x="25400" y="1656715"/>
                    <a:pt x="495935" y="2127250"/>
                    <a:pt x="1076325" y="2127250"/>
                  </a:cubicBezTo>
                  <a:cubicBezTo>
                    <a:pt x="1656715" y="2127250"/>
                    <a:pt x="2127250" y="1656715"/>
                    <a:pt x="2127250" y="1076325"/>
                  </a:cubicBezTo>
                  <a:cubicBezTo>
                    <a:pt x="2127250" y="495935"/>
                    <a:pt x="1656715" y="25400"/>
                    <a:pt x="1076325" y="25400"/>
                  </a:cubicBezTo>
                  <a:lnTo>
                    <a:pt x="1076325" y="12700"/>
                  </a:lnTo>
                  <a:lnTo>
                    <a:pt x="1076325" y="25400"/>
                  </a:lnTo>
                  <a:cubicBezTo>
                    <a:pt x="495935" y="25400"/>
                    <a:pt x="25400" y="495935"/>
                    <a:pt x="25400" y="1076325"/>
                  </a:cubicBezTo>
                  <a:close/>
                </a:path>
              </a:pathLst>
            </a:custGeom>
            <a:solidFill>
              <a:srgbClr val="74909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0" name="Group 30"/>
          <p:cNvGrpSpPr/>
          <p:nvPr/>
        </p:nvGrpSpPr>
        <p:grpSpPr>
          <a:xfrm rot="5400000">
            <a:off x="5635470" y="4349516"/>
            <a:ext cx="1614450" cy="1614450"/>
            <a:chOff x="0" y="0"/>
            <a:chExt cx="2152600" cy="2152600"/>
          </a:xfrm>
        </p:grpSpPr>
        <p:sp>
          <p:nvSpPr>
            <p:cNvPr id="31" name="Freeform 31"/>
            <p:cNvSpPr/>
            <p:nvPr/>
          </p:nvSpPr>
          <p:spPr>
            <a:xfrm>
              <a:off x="12700" y="12700"/>
              <a:ext cx="2127250" cy="2127250"/>
            </a:xfrm>
            <a:custGeom>
              <a:avLst/>
              <a:gdLst/>
              <a:ahLst/>
              <a:cxnLst/>
              <a:rect l="l" t="t" r="r" b="b"/>
              <a:pathLst>
                <a:path w="2127250" h="2127250">
                  <a:moveTo>
                    <a:pt x="0" y="1063625"/>
                  </a:moveTo>
                  <a:cubicBezTo>
                    <a:pt x="0" y="476250"/>
                    <a:pt x="476250" y="0"/>
                    <a:pt x="1063625" y="0"/>
                  </a:cubicBezTo>
                  <a:cubicBezTo>
                    <a:pt x="1651000" y="0"/>
                    <a:pt x="2127250" y="476250"/>
                    <a:pt x="2127250" y="1063625"/>
                  </a:cubicBezTo>
                  <a:cubicBezTo>
                    <a:pt x="2127250" y="1651000"/>
                    <a:pt x="1651000" y="2127250"/>
                    <a:pt x="1063625" y="2127250"/>
                  </a:cubicBezTo>
                  <a:cubicBezTo>
                    <a:pt x="476250" y="2127250"/>
                    <a:pt x="0" y="1651000"/>
                    <a:pt x="0" y="106362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2152650" cy="2152650"/>
            </a:xfrm>
            <a:custGeom>
              <a:avLst/>
              <a:gdLst/>
              <a:ahLst/>
              <a:cxnLst/>
              <a:rect l="l" t="t" r="r" b="b"/>
              <a:pathLst>
                <a:path w="2152650" h="2152650">
                  <a:moveTo>
                    <a:pt x="0" y="1076325"/>
                  </a:moveTo>
                  <a:cubicBezTo>
                    <a:pt x="0" y="481838"/>
                    <a:pt x="481838" y="0"/>
                    <a:pt x="1076325" y="0"/>
                  </a:cubicBezTo>
                  <a:lnTo>
                    <a:pt x="1076325" y="12700"/>
                  </a:lnTo>
                  <a:lnTo>
                    <a:pt x="1076325" y="0"/>
                  </a:lnTo>
                  <a:cubicBezTo>
                    <a:pt x="1670812" y="0"/>
                    <a:pt x="2152650" y="481838"/>
                    <a:pt x="2152650" y="1076325"/>
                  </a:cubicBezTo>
                  <a:lnTo>
                    <a:pt x="2139950" y="1076325"/>
                  </a:lnTo>
                  <a:lnTo>
                    <a:pt x="2152650" y="1076325"/>
                  </a:lnTo>
                  <a:cubicBezTo>
                    <a:pt x="2152650" y="1670812"/>
                    <a:pt x="1670812" y="2152650"/>
                    <a:pt x="1076325" y="2152650"/>
                  </a:cubicBezTo>
                  <a:lnTo>
                    <a:pt x="1076325" y="2139950"/>
                  </a:lnTo>
                  <a:lnTo>
                    <a:pt x="1076325" y="2152650"/>
                  </a:lnTo>
                  <a:cubicBezTo>
                    <a:pt x="481838" y="2152650"/>
                    <a:pt x="0" y="1670685"/>
                    <a:pt x="0" y="1076325"/>
                  </a:cubicBezTo>
                  <a:lnTo>
                    <a:pt x="12700" y="1076325"/>
                  </a:lnTo>
                  <a:lnTo>
                    <a:pt x="25400" y="1076325"/>
                  </a:lnTo>
                  <a:lnTo>
                    <a:pt x="12700" y="1076325"/>
                  </a:lnTo>
                  <a:lnTo>
                    <a:pt x="0" y="1076325"/>
                  </a:lnTo>
                  <a:moveTo>
                    <a:pt x="25400" y="1076325"/>
                  </a:moveTo>
                  <a:cubicBezTo>
                    <a:pt x="25400" y="1083310"/>
                    <a:pt x="19685" y="1089025"/>
                    <a:pt x="12700" y="1089025"/>
                  </a:cubicBezTo>
                  <a:cubicBezTo>
                    <a:pt x="5715" y="1089025"/>
                    <a:pt x="0" y="1083310"/>
                    <a:pt x="0" y="1076325"/>
                  </a:cubicBezTo>
                  <a:cubicBezTo>
                    <a:pt x="0" y="1069340"/>
                    <a:pt x="5715" y="1063625"/>
                    <a:pt x="12700" y="1063625"/>
                  </a:cubicBezTo>
                  <a:cubicBezTo>
                    <a:pt x="19685" y="1063625"/>
                    <a:pt x="25400" y="1069340"/>
                    <a:pt x="25400" y="1076325"/>
                  </a:cubicBezTo>
                  <a:cubicBezTo>
                    <a:pt x="25400" y="1656715"/>
                    <a:pt x="495935" y="2127250"/>
                    <a:pt x="1076325" y="2127250"/>
                  </a:cubicBezTo>
                  <a:cubicBezTo>
                    <a:pt x="1656715" y="2127250"/>
                    <a:pt x="2127250" y="1656715"/>
                    <a:pt x="2127250" y="1076325"/>
                  </a:cubicBezTo>
                  <a:cubicBezTo>
                    <a:pt x="2127250" y="495935"/>
                    <a:pt x="1656715" y="25400"/>
                    <a:pt x="1076325" y="25400"/>
                  </a:cubicBezTo>
                  <a:lnTo>
                    <a:pt x="1076325" y="12700"/>
                  </a:lnTo>
                  <a:lnTo>
                    <a:pt x="1076325" y="25400"/>
                  </a:lnTo>
                  <a:cubicBezTo>
                    <a:pt x="495935" y="25400"/>
                    <a:pt x="25400" y="495935"/>
                    <a:pt x="25400" y="1076325"/>
                  </a:cubicBezTo>
                  <a:close/>
                </a:path>
              </a:pathLst>
            </a:custGeom>
            <a:solidFill>
              <a:srgbClr val="FDC47D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3" name="Group 33"/>
          <p:cNvGrpSpPr/>
          <p:nvPr/>
        </p:nvGrpSpPr>
        <p:grpSpPr>
          <a:xfrm rot="-8100000">
            <a:off x="11005485" y="4385031"/>
            <a:ext cx="1614282" cy="1614282"/>
            <a:chOff x="0" y="0"/>
            <a:chExt cx="2152376" cy="2152376"/>
          </a:xfrm>
        </p:grpSpPr>
        <p:sp>
          <p:nvSpPr>
            <p:cNvPr id="34" name="Freeform 34"/>
            <p:cNvSpPr/>
            <p:nvPr/>
          </p:nvSpPr>
          <p:spPr>
            <a:xfrm>
              <a:off x="12700" y="12700"/>
              <a:ext cx="2126996" cy="2126996"/>
            </a:xfrm>
            <a:custGeom>
              <a:avLst/>
              <a:gdLst/>
              <a:ahLst/>
              <a:cxnLst/>
              <a:rect l="l" t="t" r="r" b="b"/>
              <a:pathLst>
                <a:path w="2126996" h="2126996">
                  <a:moveTo>
                    <a:pt x="0" y="1063498"/>
                  </a:moveTo>
                  <a:cubicBezTo>
                    <a:pt x="0" y="476123"/>
                    <a:pt x="476123" y="0"/>
                    <a:pt x="1063498" y="0"/>
                  </a:cubicBezTo>
                  <a:cubicBezTo>
                    <a:pt x="1650873" y="0"/>
                    <a:pt x="2126996" y="476123"/>
                    <a:pt x="2126996" y="1063498"/>
                  </a:cubicBezTo>
                  <a:cubicBezTo>
                    <a:pt x="2126996" y="1650873"/>
                    <a:pt x="1650873" y="2126996"/>
                    <a:pt x="1063498" y="2126996"/>
                  </a:cubicBezTo>
                  <a:cubicBezTo>
                    <a:pt x="476123" y="2126996"/>
                    <a:pt x="0" y="1650873"/>
                    <a:pt x="0" y="10634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2152396" cy="2152396"/>
            </a:xfrm>
            <a:custGeom>
              <a:avLst/>
              <a:gdLst/>
              <a:ahLst/>
              <a:cxnLst/>
              <a:rect l="l" t="t" r="r" b="b"/>
              <a:pathLst>
                <a:path w="2152396" h="2152396">
                  <a:moveTo>
                    <a:pt x="0" y="1076198"/>
                  </a:moveTo>
                  <a:cubicBezTo>
                    <a:pt x="0" y="481838"/>
                    <a:pt x="481838" y="0"/>
                    <a:pt x="1076198" y="0"/>
                  </a:cubicBezTo>
                  <a:lnTo>
                    <a:pt x="1076198" y="12700"/>
                  </a:lnTo>
                  <a:lnTo>
                    <a:pt x="1076198" y="0"/>
                  </a:lnTo>
                  <a:cubicBezTo>
                    <a:pt x="1670558" y="0"/>
                    <a:pt x="2152396" y="481838"/>
                    <a:pt x="2152396" y="1076198"/>
                  </a:cubicBezTo>
                  <a:lnTo>
                    <a:pt x="2139696" y="1076198"/>
                  </a:lnTo>
                  <a:lnTo>
                    <a:pt x="2152396" y="1076198"/>
                  </a:lnTo>
                  <a:cubicBezTo>
                    <a:pt x="2152396" y="1670558"/>
                    <a:pt x="1670558" y="2152396"/>
                    <a:pt x="1076198" y="2152396"/>
                  </a:cubicBezTo>
                  <a:lnTo>
                    <a:pt x="1076198" y="2139696"/>
                  </a:lnTo>
                  <a:lnTo>
                    <a:pt x="1076198" y="2152396"/>
                  </a:lnTo>
                  <a:cubicBezTo>
                    <a:pt x="481838" y="2152396"/>
                    <a:pt x="0" y="1670558"/>
                    <a:pt x="0" y="1076198"/>
                  </a:cubicBezTo>
                  <a:lnTo>
                    <a:pt x="12700" y="1076198"/>
                  </a:lnTo>
                  <a:lnTo>
                    <a:pt x="25400" y="1076198"/>
                  </a:lnTo>
                  <a:lnTo>
                    <a:pt x="12700" y="1076198"/>
                  </a:lnTo>
                  <a:lnTo>
                    <a:pt x="0" y="1076198"/>
                  </a:lnTo>
                  <a:moveTo>
                    <a:pt x="25400" y="1076198"/>
                  </a:moveTo>
                  <a:cubicBezTo>
                    <a:pt x="25400" y="1083183"/>
                    <a:pt x="19685" y="1088898"/>
                    <a:pt x="12700" y="1088898"/>
                  </a:cubicBezTo>
                  <a:cubicBezTo>
                    <a:pt x="5715" y="1088898"/>
                    <a:pt x="0" y="1083183"/>
                    <a:pt x="0" y="1076198"/>
                  </a:cubicBezTo>
                  <a:cubicBezTo>
                    <a:pt x="0" y="1069213"/>
                    <a:pt x="5715" y="1063498"/>
                    <a:pt x="12700" y="1063498"/>
                  </a:cubicBezTo>
                  <a:cubicBezTo>
                    <a:pt x="19685" y="1063498"/>
                    <a:pt x="25400" y="1069213"/>
                    <a:pt x="25400" y="1076198"/>
                  </a:cubicBezTo>
                  <a:cubicBezTo>
                    <a:pt x="25400" y="1656588"/>
                    <a:pt x="495808" y="2126996"/>
                    <a:pt x="1076198" y="2126996"/>
                  </a:cubicBezTo>
                  <a:cubicBezTo>
                    <a:pt x="1656588" y="2126996"/>
                    <a:pt x="2126996" y="1656588"/>
                    <a:pt x="2126996" y="1076198"/>
                  </a:cubicBezTo>
                  <a:cubicBezTo>
                    <a:pt x="2126996" y="495808"/>
                    <a:pt x="1656461" y="25400"/>
                    <a:pt x="1076198" y="25400"/>
                  </a:cubicBezTo>
                  <a:lnTo>
                    <a:pt x="1076198" y="12700"/>
                  </a:lnTo>
                  <a:lnTo>
                    <a:pt x="1076198" y="25400"/>
                  </a:lnTo>
                  <a:cubicBezTo>
                    <a:pt x="495808" y="25400"/>
                    <a:pt x="25400" y="495808"/>
                    <a:pt x="25400" y="1076198"/>
                  </a:cubicBezTo>
                  <a:close/>
                </a:path>
              </a:pathLst>
            </a:custGeom>
            <a:solidFill>
              <a:srgbClr val="FA8838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6" name="Group 36"/>
          <p:cNvGrpSpPr/>
          <p:nvPr/>
        </p:nvGrpSpPr>
        <p:grpSpPr>
          <a:xfrm rot="8100000">
            <a:off x="8336859" y="2013902"/>
            <a:ext cx="1614282" cy="1614282"/>
            <a:chOff x="0" y="0"/>
            <a:chExt cx="2152376" cy="2152376"/>
          </a:xfrm>
        </p:grpSpPr>
        <p:sp>
          <p:nvSpPr>
            <p:cNvPr id="37" name="Freeform 37"/>
            <p:cNvSpPr/>
            <p:nvPr/>
          </p:nvSpPr>
          <p:spPr>
            <a:xfrm>
              <a:off x="12700" y="12700"/>
              <a:ext cx="2126996" cy="2126996"/>
            </a:xfrm>
            <a:custGeom>
              <a:avLst/>
              <a:gdLst/>
              <a:ahLst/>
              <a:cxnLst/>
              <a:rect l="l" t="t" r="r" b="b"/>
              <a:pathLst>
                <a:path w="2126996" h="2126996">
                  <a:moveTo>
                    <a:pt x="0" y="1063498"/>
                  </a:moveTo>
                  <a:cubicBezTo>
                    <a:pt x="0" y="476123"/>
                    <a:pt x="476123" y="0"/>
                    <a:pt x="1063498" y="0"/>
                  </a:cubicBezTo>
                  <a:cubicBezTo>
                    <a:pt x="1650873" y="0"/>
                    <a:pt x="2126996" y="476123"/>
                    <a:pt x="2126996" y="1063498"/>
                  </a:cubicBezTo>
                  <a:cubicBezTo>
                    <a:pt x="2126996" y="1650873"/>
                    <a:pt x="1650873" y="2126996"/>
                    <a:pt x="1063498" y="2126996"/>
                  </a:cubicBezTo>
                  <a:cubicBezTo>
                    <a:pt x="476123" y="2126996"/>
                    <a:pt x="0" y="1650873"/>
                    <a:pt x="0" y="10634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2152396" cy="2152396"/>
            </a:xfrm>
            <a:custGeom>
              <a:avLst/>
              <a:gdLst/>
              <a:ahLst/>
              <a:cxnLst/>
              <a:rect l="l" t="t" r="r" b="b"/>
              <a:pathLst>
                <a:path w="2152396" h="2152396">
                  <a:moveTo>
                    <a:pt x="0" y="1076198"/>
                  </a:moveTo>
                  <a:cubicBezTo>
                    <a:pt x="0" y="481838"/>
                    <a:pt x="481838" y="0"/>
                    <a:pt x="1076198" y="0"/>
                  </a:cubicBezTo>
                  <a:lnTo>
                    <a:pt x="1076198" y="12700"/>
                  </a:lnTo>
                  <a:lnTo>
                    <a:pt x="1076198" y="0"/>
                  </a:lnTo>
                  <a:cubicBezTo>
                    <a:pt x="1670558" y="0"/>
                    <a:pt x="2152396" y="481838"/>
                    <a:pt x="2152396" y="1076198"/>
                  </a:cubicBezTo>
                  <a:lnTo>
                    <a:pt x="2139696" y="1076198"/>
                  </a:lnTo>
                  <a:lnTo>
                    <a:pt x="2152396" y="1076198"/>
                  </a:lnTo>
                  <a:cubicBezTo>
                    <a:pt x="2152396" y="1670558"/>
                    <a:pt x="1670558" y="2152396"/>
                    <a:pt x="1076198" y="2152396"/>
                  </a:cubicBezTo>
                  <a:lnTo>
                    <a:pt x="1076198" y="2139696"/>
                  </a:lnTo>
                  <a:lnTo>
                    <a:pt x="1076198" y="2152396"/>
                  </a:lnTo>
                  <a:cubicBezTo>
                    <a:pt x="481838" y="2152396"/>
                    <a:pt x="0" y="1670558"/>
                    <a:pt x="0" y="1076198"/>
                  </a:cubicBezTo>
                  <a:lnTo>
                    <a:pt x="12700" y="1076198"/>
                  </a:lnTo>
                  <a:lnTo>
                    <a:pt x="25400" y="1076198"/>
                  </a:lnTo>
                  <a:lnTo>
                    <a:pt x="12700" y="1076198"/>
                  </a:lnTo>
                  <a:lnTo>
                    <a:pt x="0" y="1076198"/>
                  </a:lnTo>
                  <a:moveTo>
                    <a:pt x="25400" y="1076198"/>
                  </a:moveTo>
                  <a:cubicBezTo>
                    <a:pt x="25400" y="1083183"/>
                    <a:pt x="19685" y="1088898"/>
                    <a:pt x="12700" y="1088898"/>
                  </a:cubicBezTo>
                  <a:cubicBezTo>
                    <a:pt x="5715" y="1088898"/>
                    <a:pt x="0" y="1083183"/>
                    <a:pt x="0" y="1076198"/>
                  </a:cubicBezTo>
                  <a:cubicBezTo>
                    <a:pt x="0" y="1069213"/>
                    <a:pt x="5715" y="1063498"/>
                    <a:pt x="12700" y="1063498"/>
                  </a:cubicBezTo>
                  <a:cubicBezTo>
                    <a:pt x="19685" y="1063498"/>
                    <a:pt x="25400" y="1069213"/>
                    <a:pt x="25400" y="1076198"/>
                  </a:cubicBezTo>
                  <a:cubicBezTo>
                    <a:pt x="25400" y="1656588"/>
                    <a:pt x="495808" y="2126996"/>
                    <a:pt x="1076198" y="2126996"/>
                  </a:cubicBezTo>
                  <a:cubicBezTo>
                    <a:pt x="1656588" y="2126996"/>
                    <a:pt x="2126996" y="1656588"/>
                    <a:pt x="2126996" y="1076198"/>
                  </a:cubicBezTo>
                  <a:cubicBezTo>
                    <a:pt x="2126996" y="495808"/>
                    <a:pt x="1656461" y="25400"/>
                    <a:pt x="1076198" y="25400"/>
                  </a:cubicBezTo>
                  <a:lnTo>
                    <a:pt x="1076198" y="12700"/>
                  </a:lnTo>
                  <a:lnTo>
                    <a:pt x="1076198" y="25400"/>
                  </a:lnTo>
                  <a:cubicBezTo>
                    <a:pt x="495808" y="25400"/>
                    <a:pt x="25400" y="495808"/>
                    <a:pt x="25400" y="1076198"/>
                  </a:cubicBezTo>
                  <a:close/>
                </a:path>
              </a:pathLst>
            </a:custGeom>
            <a:solidFill>
              <a:srgbClr val="F25050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 rot="-8100000">
            <a:off x="6715785" y="6472616"/>
            <a:ext cx="1614282" cy="1614282"/>
            <a:chOff x="0" y="0"/>
            <a:chExt cx="2152376" cy="2152376"/>
          </a:xfrm>
        </p:grpSpPr>
        <p:sp>
          <p:nvSpPr>
            <p:cNvPr id="40" name="Freeform 40"/>
            <p:cNvSpPr/>
            <p:nvPr/>
          </p:nvSpPr>
          <p:spPr>
            <a:xfrm>
              <a:off x="12700" y="12700"/>
              <a:ext cx="2126996" cy="2126996"/>
            </a:xfrm>
            <a:custGeom>
              <a:avLst/>
              <a:gdLst/>
              <a:ahLst/>
              <a:cxnLst/>
              <a:rect l="l" t="t" r="r" b="b"/>
              <a:pathLst>
                <a:path w="2126996" h="2126996">
                  <a:moveTo>
                    <a:pt x="0" y="1063498"/>
                  </a:moveTo>
                  <a:cubicBezTo>
                    <a:pt x="0" y="476123"/>
                    <a:pt x="476123" y="0"/>
                    <a:pt x="1063498" y="0"/>
                  </a:cubicBezTo>
                  <a:cubicBezTo>
                    <a:pt x="1650873" y="0"/>
                    <a:pt x="2126996" y="476123"/>
                    <a:pt x="2126996" y="1063498"/>
                  </a:cubicBezTo>
                  <a:cubicBezTo>
                    <a:pt x="2126996" y="1650873"/>
                    <a:pt x="1650873" y="2126996"/>
                    <a:pt x="1063498" y="2126996"/>
                  </a:cubicBezTo>
                  <a:cubicBezTo>
                    <a:pt x="476123" y="2126996"/>
                    <a:pt x="0" y="1650873"/>
                    <a:pt x="0" y="10634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0" y="0"/>
              <a:ext cx="2152396" cy="2152396"/>
            </a:xfrm>
            <a:custGeom>
              <a:avLst/>
              <a:gdLst/>
              <a:ahLst/>
              <a:cxnLst/>
              <a:rect l="l" t="t" r="r" b="b"/>
              <a:pathLst>
                <a:path w="2152396" h="2152396">
                  <a:moveTo>
                    <a:pt x="0" y="1076198"/>
                  </a:moveTo>
                  <a:cubicBezTo>
                    <a:pt x="0" y="481838"/>
                    <a:pt x="481838" y="0"/>
                    <a:pt x="1076198" y="0"/>
                  </a:cubicBezTo>
                  <a:lnTo>
                    <a:pt x="1076198" y="12700"/>
                  </a:lnTo>
                  <a:lnTo>
                    <a:pt x="1076198" y="0"/>
                  </a:lnTo>
                  <a:cubicBezTo>
                    <a:pt x="1670558" y="0"/>
                    <a:pt x="2152396" y="481838"/>
                    <a:pt x="2152396" y="1076198"/>
                  </a:cubicBezTo>
                  <a:lnTo>
                    <a:pt x="2139696" y="1076198"/>
                  </a:lnTo>
                  <a:lnTo>
                    <a:pt x="2152396" y="1076198"/>
                  </a:lnTo>
                  <a:cubicBezTo>
                    <a:pt x="2152396" y="1670558"/>
                    <a:pt x="1670558" y="2152396"/>
                    <a:pt x="1076198" y="2152396"/>
                  </a:cubicBezTo>
                  <a:lnTo>
                    <a:pt x="1076198" y="2139696"/>
                  </a:lnTo>
                  <a:lnTo>
                    <a:pt x="1076198" y="2152396"/>
                  </a:lnTo>
                  <a:cubicBezTo>
                    <a:pt x="481838" y="2152396"/>
                    <a:pt x="0" y="1670558"/>
                    <a:pt x="0" y="1076198"/>
                  </a:cubicBezTo>
                  <a:lnTo>
                    <a:pt x="12700" y="1076198"/>
                  </a:lnTo>
                  <a:lnTo>
                    <a:pt x="25400" y="1076198"/>
                  </a:lnTo>
                  <a:lnTo>
                    <a:pt x="12700" y="1076198"/>
                  </a:lnTo>
                  <a:lnTo>
                    <a:pt x="0" y="1076198"/>
                  </a:lnTo>
                  <a:moveTo>
                    <a:pt x="25400" y="1076198"/>
                  </a:moveTo>
                  <a:cubicBezTo>
                    <a:pt x="25400" y="1083183"/>
                    <a:pt x="19685" y="1088898"/>
                    <a:pt x="12700" y="1088898"/>
                  </a:cubicBezTo>
                  <a:cubicBezTo>
                    <a:pt x="5715" y="1088898"/>
                    <a:pt x="0" y="1083183"/>
                    <a:pt x="0" y="1076198"/>
                  </a:cubicBezTo>
                  <a:cubicBezTo>
                    <a:pt x="0" y="1069213"/>
                    <a:pt x="5715" y="1063498"/>
                    <a:pt x="12700" y="1063498"/>
                  </a:cubicBezTo>
                  <a:cubicBezTo>
                    <a:pt x="19685" y="1063498"/>
                    <a:pt x="25400" y="1069213"/>
                    <a:pt x="25400" y="1076198"/>
                  </a:cubicBezTo>
                  <a:cubicBezTo>
                    <a:pt x="25400" y="1656588"/>
                    <a:pt x="495808" y="2126996"/>
                    <a:pt x="1076198" y="2126996"/>
                  </a:cubicBezTo>
                  <a:cubicBezTo>
                    <a:pt x="1656588" y="2126996"/>
                    <a:pt x="2126996" y="1656588"/>
                    <a:pt x="2126996" y="1076198"/>
                  </a:cubicBezTo>
                  <a:cubicBezTo>
                    <a:pt x="2126996" y="495808"/>
                    <a:pt x="1656461" y="25400"/>
                    <a:pt x="1076198" y="25400"/>
                  </a:cubicBezTo>
                  <a:lnTo>
                    <a:pt x="1076198" y="12700"/>
                  </a:lnTo>
                  <a:lnTo>
                    <a:pt x="1076198" y="25400"/>
                  </a:lnTo>
                  <a:cubicBezTo>
                    <a:pt x="495808" y="25400"/>
                    <a:pt x="25400" y="495808"/>
                    <a:pt x="25400" y="1076198"/>
                  </a:cubicBezTo>
                  <a:close/>
                </a:path>
              </a:pathLst>
            </a:custGeom>
            <a:solidFill>
              <a:srgbClr val="4AA2D9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2" name="Group 42"/>
          <p:cNvGrpSpPr/>
          <p:nvPr/>
        </p:nvGrpSpPr>
        <p:grpSpPr>
          <a:xfrm rot="8100000">
            <a:off x="10044054" y="6472616"/>
            <a:ext cx="1614282" cy="1614282"/>
            <a:chOff x="0" y="0"/>
            <a:chExt cx="2152376" cy="2152376"/>
          </a:xfrm>
        </p:grpSpPr>
        <p:sp>
          <p:nvSpPr>
            <p:cNvPr id="43" name="Freeform 43"/>
            <p:cNvSpPr/>
            <p:nvPr/>
          </p:nvSpPr>
          <p:spPr>
            <a:xfrm>
              <a:off x="12700" y="12700"/>
              <a:ext cx="2126996" cy="2126996"/>
            </a:xfrm>
            <a:custGeom>
              <a:avLst/>
              <a:gdLst/>
              <a:ahLst/>
              <a:cxnLst/>
              <a:rect l="l" t="t" r="r" b="b"/>
              <a:pathLst>
                <a:path w="2126996" h="2126996">
                  <a:moveTo>
                    <a:pt x="0" y="1063498"/>
                  </a:moveTo>
                  <a:cubicBezTo>
                    <a:pt x="0" y="476123"/>
                    <a:pt x="476123" y="0"/>
                    <a:pt x="1063498" y="0"/>
                  </a:cubicBezTo>
                  <a:cubicBezTo>
                    <a:pt x="1650873" y="0"/>
                    <a:pt x="2126996" y="476123"/>
                    <a:pt x="2126996" y="1063498"/>
                  </a:cubicBezTo>
                  <a:cubicBezTo>
                    <a:pt x="2126996" y="1650873"/>
                    <a:pt x="1650873" y="2126996"/>
                    <a:pt x="1063498" y="2126996"/>
                  </a:cubicBezTo>
                  <a:cubicBezTo>
                    <a:pt x="476123" y="2126996"/>
                    <a:pt x="0" y="1650873"/>
                    <a:pt x="0" y="1063498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2152396" cy="2152396"/>
            </a:xfrm>
            <a:custGeom>
              <a:avLst/>
              <a:gdLst/>
              <a:ahLst/>
              <a:cxnLst/>
              <a:rect l="l" t="t" r="r" b="b"/>
              <a:pathLst>
                <a:path w="2152396" h="2152396">
                  <a:moveTo>
                    <a:pt x="0" y="1076198"/>
                  </a:moveTo>
                  <a:cubicBezTo>
                    <a:pt x="0" y="481838"/>
                    <a:pt x="481838" y="0"/>
                    <a:pt x="1076198" y="0"/>
                  </a:cubicBezTo>
                  <a:lnTo>
                    <a:pt x="1076198" y="12700"/>
                  </a:lnTo>
                  <a:lnTo>
                    <a:pt x="1076198" y="0"/>
                  </a:lnTo>
                  <a:cubicBezTo>
                    <a:pt x="1670558" y="0"/>
                    <a:pt x="2152396" y="481838"/>
                    <a:pt x="2152396" y="1076198"/>
                  </a:cubicBezTo>
                  <a:lnTo>
                    <a:pt x="2139696" y="1076198"/>
                  </a:lnTo>
                  <a:lnTo>
                    <a:pt x="2152396" y="1076198"/>
                  </a:lnTo>
                  <a:cubicBezTo>
                    <a:pt x="2152396" y="1670558"/>
                    <a:pt x="1670558" y="2152396"/>
                    <a:pt x="1076198" y="2152396"/>
                  </a:cubicBezTo>
                  <a:lnTo>
                    <a:pt x="1076198" y="2139696"/>
                  </a:lnTo>
                  <a:lnTo>
                    <a:pt x="1076198" y="2152396"/>
                  </a:lnTo>
                  <a:cubicBezTo>
                    <a:pt x="481838" y="2152396"/>
                    <a:pt x="0" y="1670558"/>
                    <a:pt x="0" y="1076198"/>
                  </a:cubicBezTo>
                  <a:lnTo>
                    <a:pt x="12700" y="1076198"/>
                  </a:lnTo>
                  <a:lnTo>
                    <a:pt x="25400" y="1076198"/>
                  </a:lnTo>
                  <a:lnTo>
                    <a:pt x="12700" y="1076198"/>
                  </a:lnTo>
                  <a:lnTo>
                    <a:pt x="0" y="1076198"/>
                  </a:lnTo>
                  <a:moveTo>
                    <a:pt x="25400" y="1076198"/>
                  </a:moveTo>
                  <a:cubicBezTo>
                    <a:pt x="25400" y="1083183"/>
                    <a:pt x="19685" y="1088898"/>
                    <a:pt x="12700" y="1088898"/>
                  </a:cubicBezTo>
                  <a:cubicBezTo>
                    <a:pt x="5715" y="1088898"/>
                    <a:pt x="0" y="1083183"/>
                    <a:pt x="0" y="1076198"/>
                  </a:cubicBezTo>
                  <a:cubicBezTo>
                    <a:pt x="0" y="1069213"/>
                    <a:pt x="5715" y="1063498"/>
                    <a:pt x="12700" y="1063498"/>
                  </a:cubicBezTo>
                  <a:cubicBezTo>
                    <a:pt x="19685" y="1063498"/>
                    <a:pt x="25400" y="1069213"/>
                    <a:pt x="25400" y="1076198"/>
                  </a:cubicBezTo>
                  <a:cubicBezTo>
                    <a:pt x="25400" y="1656588"/>
                    <a:pt x="495808" y="2126996"/>
                    <a:pt x="1076198" y="2126996"/>
                  </a:cubicBezTo>
                  <a:cubicBezTo>
                    <a:pt x="1656588" y="2126996"/>
                    <a:pt x="2126996" y="1656588"/>
                    <a:pt x="2126996" y="1076198"/>
                  </a:cubicBezTo>
                  <a:cubicBezTo>
                    <a:pt x="2126996" y="495808"/>
                    <a:pt x="1656461" y="25400"/>
                    <a:pt x="1076198" y="25400"/>
                  </a:cubicBezTo>
                  <a:lnTo>
                    <a:pt x="1076198" y="12700"/>
                  </a:lnTo>
                  <a:lnTo>
                    <a:pt x="1076198" y="25400"/>
                  </a:lnTo>
                  <a:cubicBezTo>
                    <a:pt x="495808" y="25400"/>
                    <a:pt x="25400" y="495808"/>
                    <a:pt x="25400" y="1076198"/>
                  </a:cubicBezTo>
                  <a:close/>
                </a:path>
              </a:pathLst>
            </a:custGeom>
            <a:solidFill>
              <a:srgbClr val="2741CA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5" name="Freeform 45"/>
          <p:cNvSpPr/>
          <p:nvPr/>
        </p:nvSpPr>
        <p:spPr>
          <a:xfrm>
            <a:off x="6096697" y="4834835"/>
            <a:ext cx="691994" cy="691994"/>
          </a:xfrm>
          <a:custGeom>
            <a:avLst/>
            <a:gdLst/>
            <a:ahLst/>
            <a:cxnLst/>
            <a:rect l="l" t="t" r="r" b="b"/>
            <a:pathLst>
              <a:path w="691994" h="691994">
                <a:moveTo>
                  <a:pt x="0" y="0"/>
                </a:moveTo>
                <a:lnTo>
                  <a:pt x="691994" y="0"/>
                </a:lnTo>
                <a:lnTo>
                  <a:pt x="691994" y="691994"/>
                </a:lnTo>
                <a:lnTo>
                  <a:pt x="0" y="69199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0527793" y="6957242"/>
            <a:ext cx="699568" cy="698870"/>
          </a:xfrm>
          <a:custGeom>
            <a:avLst/>
            <a:gdLst/>
            <a:ahLst/>
            <a:cxnLst/>
            <a:rect l="l" t="t" r="r" b="b"/>
            <a:pathLst>
              <a:path w="699568" h="698870">
                <a:moveTo>
                  <a:pt x="0" y="0"/>
                </a:moveTo>
                <a:lnTo>
                  <a:pt x="699568" y="0"/>
                </a:lnTo>
                <a:lnTo>
                  <a:pt x="699568" y="698870"/>
                </a:lnTo>
                <a:lnTo>
                  <a:pt x="0" y="69887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8852395" y="7381503"/>
            <a:ext cx="669332" cy="669268"/>
          </a:xfrm>
          <a:custGeom>
            <a:avLst/>
            <a:gdLst/>
            <a:ahLst/>
            <a:cxnLst/>
            <a:rect l="l" t="t" r="r" b="b"/>
            <a:pathLst>
              <a:path w="669332" h="669268">
                <a:moveTo>
                  <a:pt x="0" y="0"/>
                </a:moveTo>
                <a:lnTo>
                  <a:pt x="669332" y="0"/>
                </a:lnTo>
                <a:lnTo>
                  <a:pt x="669332" y="669268"/>
                </a:lnTo>
                <a:lnTo>
                  <a:pt x="0" y="6692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103146" y="6991362"/>
            <a:ext cx="852658" cy="664750"/>
          </a:xfrm>
          <a:custGeom>
            <a:avLst/>
            <a:gdLst/>
            <a:ahLst/>
            <a:cxnLst/>
            <a:rect l="l" t="t" r="r" b="b"/>
            <a:pathLst>
              <a:path w="852658" h="664750">
                <a:moveTo>
                  <a:pt x="0" y="0"/>
                </a:moveTo>
                <a:lnTo>
                  <a:pt x="852658" y="0"/>
                </a:lnTo>
                <a:lnTo>
                  <a:pt x="852658" y="664750"/>
                </a:lnTo>
                <a:lnTo>
                  <a:pt x="0" y="6647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1459786" y="4837454"/>
            <a:ext cx="705680" cy="709436"/>
          </a:xfrm>
          <a:custGeom>
            <a:avLst/>
            <a:gdLst/>
            <a:ahLst/>
            <a:cxnLst/>
            <a:rect l="l" t="t" r="r" b="b"/>
            <a:pathLst>
              <a:path w="705680" h="709436">
                <a:moveTo>
                  <a:pt x="0" y="0"/>
                </a:moveTo>
                <a:lnTo>
                  <a:pt x="705680" y="0"/>
                </a:lnTo>
                <a:lnTo>
                  <a:pt x="705680" y="709436"/>
                </a:lnTo>
                <a:lnTo>
                  <a:pt x="0" y="70943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8782246" y="2487363"/>
            <a:ext cx="723508" cy="725028"/>
          </a:xfrm>
          <a:custGeom>
            <a:avLst/>
            <a:gdLst/>
            <a:ahLst/>
            <a:cxnLst/>
            <a:rect l="l" t="t" r="r" b="b"/>
            <a:pathLst>
              <a:path w="723508" h="725028">
                <a:moveTo>
                  <a:pt x="0" y="0"/>
                </a:moveTo>
                <a:lnTo>
                  <a:pt x="723508" y="0"/>
                </a:lnTo>
                <a:lnTo>
                  <a:pt x="723508" y="725028"/>
                </a:lnTo>
                <a:lnTo>
                  <a:pt x="0" y="725028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795519" y="4552182"/>
            <a:ext cx="4277620" cy="125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74909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Tuyaut</a:t>
            </a:r>
            <a:r>
              <a:rPr lang="en-US" sz="2799" b="1" u="none" strike="noStrike">
                <a:solidFill>
                  <a:srgbClr val="749096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erie – contamination sévère de l’huile</a:t>
            </a:r>
          </a:p>
        </p:txBody>
      </p:sp>
      <p:sp>
        <p:nvSpPr>
          <p:cNvPr id="52" name="AutoShape 52"/>
          <p:cNvSpPr/>
          <p:nvPr/>
        </p:nvSpPr>
        <p:spPr>
          <a:xfrm flipV="1">
            <a:off x="618543" y="3993441"/>
            <a:ext cx="17051024" cy="36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3" name="AutoShape 53"/>
          <p:cNvSpPr/>
          <p:nvPr/>
        </p:nvSpPr>
        <p:spPr>
          <a:xfrm flipV="1">
            <a:off x="618432" y="6387253"/>
            <a:ext cx="17051024" cy="36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4" name="TextBox 54"/>
          <p:cNvSpPr txBox="1"/>
          <p:nvPr/>
        </p:nvSpPr>
        <p:spPr>
          <a:xfrm>
            <a:off x="6770594" y="5035316"/>
            <a:ext cx="4746812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IPR &gt; 15)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01979" y="1902945"/>
            <a:ext cx="4433491" cy="41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 b="1">
                <a:solidFill>
                  <a:srgbClr val="000000"/>
                </a:solidFill>
                <a:latin typeface="Fira Sans Bold"/>
                <a:ea typeface="Fira Sans Bold"/>
                <a:cs typeface="Fira Sans Bold"/>
                <a:sym typeface="Fira Sans Bold"/>
              </a:rPr>
              <a:t>les systèmes dont l’IPR &gt; 15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Application de l’AMDEC SUR DEMAG 420T (suite) :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27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5" name="TextBox 5"/>
          <p:cNvSpPr txBox="1"/>
          <p:nvPr/>
        </p:nvSpPr>
        <p:spPr>
          <a:xfrm>
            <a:off x="1219200" y="8151459"/>
            <a:ext cx="13482542" cy="1636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3621" lvl="1" indent="-196811" algn="l">
              <a:lnSpc>
                <a:spcPts val="2187"/>
              </a:lnSpc>
              <a:buFont typeface="Arial"/>
              <a:buChar char="•"/>
            </a:pP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Coût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d’arrêt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horaire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= 800 MAD /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heure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marL="393621" lvl="1" indent="-196811" algn="l">
              <a:lnSpc>
                <a:spcPts val="2187"/>
              </a:lnSpc>
              <a:buFont typeface="Arial"/>
              <a:buChar char="•"/>
            </a:pP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Heures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de production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annuelles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prises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pour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calcul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TRS (%) = 2 000 h/an (approx. 250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jours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× 8 h).</a:t>
            </a:r>
          </a:p>
          <a:p>
            <a:pPr marL="393621" lvl="1" indent="-196811" algn="l">
              <a:lnSpc>
                <a:spcPts val="2187"/>
              </a:lnSpc>
              <a:buFont typeface="Arial"/>
              <a:buChar char="•"/>
            </a:pP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Réduction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estimée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des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arrêts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après actions :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varie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par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système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(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conservatif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→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ambitieux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),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indiqué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par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système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.</a:t>
            </a:r>
          </a:p>
          <a:p>
            <a:pPr marL="393621" lvl="1" indent="-196811" algn="l">
              <a:lnSpc>
                <a:spcPts val="2187"/>
              </a:lnSpc>
              <a:buFont typeface="Arial"/>
              <a:buChar char="•"/>
            </a:pP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TRS gain ≈ (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heures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sauvées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/ 2 000) × 100 (points % de TRS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gagnés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).</a:t>
            </a:r>
          </a:p>
          <a:p>
            <a:pPr marL="393621" lvl="1" indent="-196811" algn="l">
              <a:lnSpc>
                <a:spcPts val="2187"/>
              </a:lnSpc>
              <a:buFont typeface="Arial"/>
              <a:buChar char="•"/>
            </a:pP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Le total financier combine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économies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sur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arrêts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(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somme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des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lignes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horaires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= 9+19.2+16+12.6+12 = 68.8 h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sauvées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→ 68.8 × 800 = 55 040 MAD) +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économie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r>
              <a:rPr lang="en-US" sz="1823" dirty="0" err="1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qualité</a:t>
            </a:r>
            <a:r>
              <a:rPr lang="en-US" sz="1823" dirty="0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 ( 18 000 MAD ) = ≈ 73 040 MAD.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99923" y="409575"/>
            <a:ext cx="13859103" cy="619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71"/>
              </a:lnSpc>
              <a:spcBef>
                <a:spcPct val="0"/>
              </a:spcBef>
            </a:pPr>
            <a:r>
              <a:rPr lang="en-US" sz="4059">
                <a:solidFill>
                  <a:srgbClr val="000000"/>
                </a:solidFill>
                <a:latin typeface="Work Sans"/>
                <a:ea typeface="Work Sans"/>
                <a:cs typeface="Work Sans"/>
                <a:sym typeface="Work Sans"/>
              </a:rPr>
              <a:t>Application de l’AMDEC SUR DEMAG 420T (suite) 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28</a:t>
              </a:r>
            </a:p>
          </p:txBody>
        </p:sp>
      </p:grpSp>
      <p:pic>
        <p:nvPicPr>
          <p:cNvPr id="11" name="Image 10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F123018C-45E2-E8A5-36F0-C4C0083AF1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371" y="1028700"/>
            <a:ext cx="16392677" cy="702160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TextBox 4"/>
          <p:cNvSpPr txBox="1"/>
          <p:nvPr/>
        </p:nvSpPr>
        <p:spPr>
          <a:xfrm>
            <a:off x="1507428" y="3393602"/>
            <a:ext cx="4917445" cy="1137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810"/>
              </a:lnSpc>
            </a:pPr>
            <a:r>
              <a:rPr lang="en-US" sz="7341" dirty="0">
                <a:solidFill>
                  <a:srgbClr val="4676BE"/>
                </a:solidFill>
                <a:latin typeface="Work Sans"/>
                <a:ea typeface="Work Sans"/>
                <a:cs typeface="Work Sans"/>
                <a:sym typeface="Work Sans"/>
              </a:rPr>
              <a:t>conclusion</a:t>
            </a:r>
          </a:p>
        </p:txBody>
      </p:sp>
      <p:sp>
        <p:nvSpPr>
          <p:cNvPr id="5" name="Freeform 5"/>
          <p:cNvSpPr/>
          <p:nvPr/>
        </p:nvSpPr>
        <p:spPr>
          <a:xfrm>
            <a:off x="609600" y="1078356"/>
            <a:ext cx="6296864" cy="8957184"/>
          </a:xfrm>
          <a:custGeom>
            <a:avLst/>
            <a:gdLst/>
            <a:ahLst/>
            <a:cxnLst/>
            <a:rect l="l" t="t" r="r" b="b"/>
            <a:pathLst>
              <a:path w="6296864" h="8957184">
                <a:moveTo>
                  <a:pt x="0" y="0"/>
                </a:moveTo>
                <a:lnTo>
                  <a:pt x="6296864" y="0"/>
                </a:lnTo>
                <a:lnTo>
                  <a:pt x="6296864" y="8957184"/>
                </a:lnTo>
                <a:lnTo>
                  <a:pt x="0" y="89571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07428" y="5197331"/>
            <a:ext cx="13971054" cy="3298878"/>
          </a:xfrm>
          <a:custGeom>
            <a:avLst/>
            <a:gdLst/>
            <a:ahLst/>
            <a:cxnLst/>
            <a:rect l="l" t="t" r="r" b="b"/>
            <a:pathLst>
              <a:path w="13971054" h="3298878">
                <a:moveTo>
                  <a:pt x="0" y="0"/>
                </a:moveTo>
                <a:lnTo>
                  <a:pt x="13971054" y="0"/>
                </a:lnTo>
                <a:lnTo>
                  <a:pt x="13971054" y="3298878"/>
                </a:lnTo>
                <a:lnTo>
                  <a:pt x="0" y="329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820" b="-9820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29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1DE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52000" y="251100"/>
            <a:ext cx="17784000" cy="9784800"/>
            <a:chOff x="0" y="0"/>
            <a:chExt cx="23712000" cy="13046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12043" cy="13046456"/>
            </a:xfrm>
            <a:custGeom>
              <a:avLst/>
              <a:gdLst/>
              <a:ahLst/>
              <a:cxnLst/>
              <a:rect l="l" t="t" r="r" b="b"/>
              <a:pathLst>
                <a:path w="23712043" h="13046456">
                  <a:moveTo>
                    <a:pt x="0" y="543941"/>
                  </a:moveTo>
                  <a:cubicBezTo>
                    <a:pt x="0" y="243459"/>
                    <a:pt x="243459" y="0"/>
                    <a:pt x="543941" y="0"/>
                  </a:cubicBezTo>
                  <a:lnTo>
                    <a:pt x="23168102" y="0"/>
                  </a:lnTo>
                  <a:cubicBezTo>
                    <a:pt x="23468457" y="0"/>
                    <a:pt x="23712043" y="243459"/>
                    <a:pt x="23712043" y="543941"/>
                  </a:cubicBezTo>
                  <a:lnTo>
                    <a:pt x="23712043" y="12502515"/>
                  </a:lnTo>
                  <a:cubicBezTo>
                    <a:pt x="23712043" y="12802870"/>
                    <a:pt x="23468585" y="13046456"/>
                    <a:pt x="23168102" y="13046456"/>
                  </a:cubicBezTo>
                  <a:lnTo>
                    <a:pt x="543941" y="13046456"/>
                  </a:lnTo>
                  <a:cubicBezTo>
                    <a:pt x="243459" y="13046456"/>
                    <a:pt x="0" y="12802870"/>
                    <a:pt x="0" y="12502515"/>
                  </a:cubicBezTo>
                  <a:close/>
                </a:path>
              </a:pathLst>
            </a:custGeom>
            <a:solidFill>
              <a:srgbClr val="FFFF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id="4" name="Group 4"/>
          <p:cNvGrpSpPr/>
          <p:nvPr/>
        </p:nvGrpSpPr>
        <p:grpSpPr>
          <a:xfrm>
            <a:off x="7327155" y="2761678"/>
            <a:ext cx="2727213" cy="2671951"/>
            <a:chOff x="0" y="0"/>
            <a:chExt cx="3636284" cy="356260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36264" cy="3562604"/>
            </a:xfrm>
            <a:custGeom>
              <a:avLst/>
              <a:gdLst/>
              <a:ahLst/>
              <a:cxnLst/>
              <a:rect l="l" t="t" r="r" b="b"/>
              <a:pathLst>
                <a:path w="3636264" h="3562604">
                  <a:moveTo>
                    <a:pt x="0" y="0"/>
                  </a:moveTo>
                  <a:lnTo>
                    <a:pt x="3636264" y="0"/>
                  </a:lnTo>
                  <a:lnTo>
                    <a:pt x="3636264" y="3562604"/>
                  </a:lnTo>
                  <a:lnTo>
                    <a:pt x="0" y="356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373" r="-1373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113418" y="2761678"/>
            <a:ext cx="2413555" cy="2671951"/>
            <a:chOff x="0" y="0"/>
            <a:chExt cx="3218073" cy="356260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18053" cy="3562604"/>
            </a:xfrm>
            <a:custGeom>
              <a:avLst/>
              <a:gdLst/>
              <a:ahLst/>
              <a:cxnLst/>
              <a:rect l="l" t="t" r="r" b="b"/>
              <a:pathLst>
                <a:path w="3218053" h="3562604">
                  <a:moveTo>
                    <a:pt x="0" y="0"/>
                  </a:moveTo>
                  <a:lnTo>
                    <a:pt x="3218053" y="0"/>
                  </a:lnTo>
                  <a:lnTo>
                    <a:pt x="3218053" y="3562604"/>
                  </a:lnTo>
                  <a:lnTo>
                    <a:pt x="0" y="356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20" r="-1521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0291051" y="2761678"/>
            <a:ext cx="2409843" cy="2671951"/>
            <a:chOff x="0" y="0"/>
            <a:chExt cx="3213125" cy="356260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13100" cy="3562604"/>
            </a:xfrm>
            <a:custGeom>
              <a:avLst/>
              <a:gdLst/>
              <a:ahLst/>
              <a:cxnLst/>
              <a:rect l="l" t="t" r="r" b="b"/>
              <a:pathLst>
                <a:path w="3213100" h="3562604">
                  <a:moveTo>
                    <a:pt x="0" y="0"/>
                  </a:moveTo>
                  <a:lnTo>
                    <a:pt x="3213100" y="0"/>
                  </a:lnTo>
                  <a:lnTo>
                    <a:pt x="3213100" y="3562604"/>
                  </a:lnTo>
                  <a:lnTo>
                    <a:pt x="0" y="356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15" r="-1316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4762058" y="2761678"/>
            <a:ext cx="2328602" cy="2671951"/>
            <a:chOff x="0" y="0"/>
            <a:chExt cx="3104802" cy="356260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04769" cy="3562604"/>
            </a:xfrm>
            <a:custGeom>
              <a:avLst/>
              <a:gdLst/>
              <a:ahLst/>
              <a:cxnLst/>
              <a:rect l="l" t="t" r="r" b="b"/>
              <a:pathLst>
                <a:path w="3104769" h="3562604">
                  <a:moveTo>
                    <a:pt x="0" y="0"/>
                  </a:moveTo>
                  <a:lnTo>
                    <a:pt x="3104769" y="0"/>
                  </a:lnTo>
                  <a:lnTo>
                    <a:pt x="3104769" y="3562604"/>
                  </a:lnTo>
                  <a:lnTo>
                    <a:pt x="0" y="356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340" r="-1342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2390052" y="2761678"/>
            <a:ext cx="2103421" cy="2671951"/>
            <a:chOff x="0" y="0"/>
            <a:chExt cx="2804561" cy="356260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04541" cy="3562604"/>
            </a:xfrm>
            <a:custGeom>
              <a:avLst/>
              <a:gdLst/>
              <a:ahLst/>
              <a:cxnLst/>
              <a:rect l="l" t="t" r="r" b="b"/>
              <a:pathLst>
                <a:path w="2804541" h="3562604">
                  <a:moveTo>
                    <a:pt x="0" y="0"/>
                  </a:moveTo>
                  <a:lnTo>
                    <a:pt x="2804541" y="0"/>
                  </a:lnTo>
                  <a:lnTo>
                    <a:pt x="2804541" y="3562604"/>
                  </a:lnTo>
                  <a:lnTo>
                    <a:pt x="0" y="35626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462" r="-1463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602603" y="6585583"/>
            <a:ext cx="2668228" cy="2740266"/>
            <a:chOff x="0" y="0"/>
            <a:chExt cx="3557637" cy="365368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57651" cy="3653663"/>
            </a:xfrm>
            <a:custGeom>
              <a:avLst/>
              <a:gdLst/>
              <a:ahLst/>
              <a:cxnLst/>
              <a:rect l="l" t="t" r="r" b="b"/>
              <a:pathLst>
                <a:path w="3557651" h="3653663">
                  <a:moveTo>
                    <a:pt x="0" y="0"/>
                  </a:moveTo>
                  <a:lnTo>
                    <a:pt x="3557651" y="0"/>
                  </a:lnTo>
                  <a:lnTo>
                    <a:pt x="3557651" y="3653663"/>
                  </a:lnTo>
                  <a:lnTo>
                    <a:pt x="0" y="36536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33700" r="-33699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584860" y="6627302"/>
            <a:ext cx="2240124" cy="2698546"/>
            <a:chOff x="0" y="0"/>
            <a:chExt cx="2986833" cy="359806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986786" cy="3598037"/>
            </a:xfrm>
            <a:custGeom>
              <a:avLst/>
              <a:gdLst/>
              <a:ahLst/>
              <a:cxnLst/>
              <a:rect l="l" t="t" r="r" b="b"/>
              <a:pathLst>
                <a:path w="2986786" h="3598037">
                  <a:moveTo>
                    <a:pt x="0" y="0"/>
                  </a:moveTo>
                  <a:lnTo>
                    <a:pt x="2986786" y="0"/>
                  </a:lnTo>
                  <a:lnTo>
                    <a:pt x="2986786" y="3598037"/>
                  </a:lnTo>
                  <a:lnTo>
                    <a:pt x="0" y="35980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33775" r="-33776"/>
              </a:stretch>
            </a:blipFill>
          </p:spPr>
        </p:sp>
      </p:grpSp>
      <p:grpSp>
        <p:nvGrpSpPr>
          <p:cNvPr id="18" name="Group 18"/>
          <p:cNvGrpSpPr/>
          <p:nvPr/>
        </p:nvGrpSpPr>
        <p:grpSpPr>
          <a:xfrm>
            <a:off x="4912858" y="6627302"/>
            <a:ext cx="2557492" cy="2672028"/>
            <a:chOff x="0" y="0"/>
            <a:chExt cx="3409990" cy="35627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409950" cy="3562731"/>
            </a:xfrm>
            <a:custGeom>
              <a:avLst/>
              <a:gdLst/>
              <a:ahLst/>
              <a:cxnLst/>
              <a:rect l="l" t="t" r="r" b="b"/>
              <a:pathLst>
                <a:path w="3409950" h="3562731">
                  <a:moveTo>
                    <a:pt x="0" y="0"/>
                  </a:moveTo>
                  <a:lnTo>
                    <a:pt x="3409950" y="0"/>
                  </a:lnTo>
                  <a:lnTo>
                    <a:pt x="3409950" y="3562731"/>
                  </a:lnTo>
                  <a:lnTo>
                    <a:pt x="0" y="3562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33717" r="-33718"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838962" y="518966"/>
            <a:ext cx="3239262" cy="710858"/>
            <a:chOff x="0" y="0"/>
            <a:chExt cx="4319016" cy="9478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319016" cy="947801"/>
            </a:xfrm>
            <a:custGeom>
              <a:avLst/>
              <a:gdLst/>
              <a:ahLst/>
              <a:cxnLst/>
              <a:rect l="l" t="t" r="r" b="b"/>
              <a:pathLst>
                <a:path w="4319016" h="947801">
                  <a:moveTo>
                    <a:pt x="0" y="0"/>
                  </a:moveTo>
                  <a:lnTo>
                    <a:pt x="4319016" y="0"/>
                  </a:lnTo>
                  <a:lnTo>
                    <a:pt x="4319016" y="947801"/>
                  </a:lnTo>
                  <a:lnTo>
                    <a:pt x="0" y="9478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81" r="-281" b="-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4172586" y="483258"/>
            <a:ext cx="3410587" cy="1493132"/>
            <a:chOff x="0" y="0"/>
            <a:chExt cx="5897699" cy="2581973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97753" cy="2581910"/>
            </a:xfrm>
            <a:custGeom>
              <a:avLst/>
              <a:gdLst/>
              <a:ahLst/>
              <a:cxnLst/>
              <a:rect l="l" t="t" r="r" b="b"/>
              <a:pathLst>
                <a:path w="5897753" h="2581910">
                  <a:moveTo>
                    <a:pt x="0" y="0"/>
                  </a:moveTo>
                  <a:lnTo>
                    <a:pt x="5897753" y="0"/>
                  </a:lnTo>
                  <a:lnTo>
                    <a:pt x="5897753" y="2581910"/>
                  </a:lnTo>
                  <a:lnTo>
                    <a:pt x="0" y="25819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60077" b="-68346"/>
              </a:stretch>
            </a:blipFill>
          </p:spPr>
        </p:sp>
      </p:grpSp>
      <p:sp>
        <p:nvSpPr>
          <p:cNvPr id="24" name="Freeform 24"/>
          <p:cNvSpPr/>
          <p:nvPr/>
        </p:nvSpPr>
        <p:spPr>
          <a:xfrm>
            <a:off x="258958" y="5615081"/>
            <a:ext cx="17777042" cy="789050"/>
          </a:xfrm>
          <a:custGeom>
            <a:avLst/>
            <a:gdLst/>
            <a:ahLst/>
            <a:cxnLst/>
            <a:rect l="l" t="t" r="r" b="b"/>
            <a:pathLst>
              <a:path w="17777042" h="789050">
                <a:moveTo>
                  <a:pt x="0" y="0"/>
                </a:moveTo>
                <a:lnTo>
                  <a:pt x="17777042" y="0"/>
                </a:lnTo>
                <a:lnTo>
                  <a:pt x="17777042" y="789050"/>
                </a:lnTo>
                <a:lnTo>
                  <a:pt x="0" y="7890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>
            <a:off x="17100187" y="9258300"/>
            <a:ext cx="643722" cy="543450"/>
            <a:chOff x="0" y="0"/>
            <a:chExt cx="169540" cy="143131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69540" cy="143131"/>
            </a:xfrm>
            <a:custGeom>
              <a:avLst/>
              <a:gdLst/>
              <a:ahLst/>
              <a:cxnLst/>
              <a:rect l="l" t="t" r="r" b="b"/>
              <a:pathLst>
                <a:path w="169540" h="143131">
                  <a:moveTo>
                    <a:pt x="0" y="0"/>
                  </a:moveTo>
                  <a:lnTo>
                    <a:pt x="169540" y="0"/>
                  </a:lnTo>
                  <a:lnTo>
                    <a:pt x="169540" y="143131"/>
                  </a:lnTo>
                  <a:lnTo>
                    <a:pt x="0" y="143131"/>
                  </a:lnTo>
                  <a:close/>
                </a:path>
              </a:pathLst>
            </a:custGeom>
            <a:solidFill>
              <a:srgbClr val="E3E9E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0"/>
              <a:ext cx="169540" cy="1431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 b="1">
                  <a:solidFill>
                    <a:srgbClr val="19191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30</a:t>
              </a:r>
            </a:p>
          </p:txBody>
        </p:sp>
      </p:grp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673</Words>
  <Application>Microsoft Office PowerPoint</Application>
  <PresentationFormat>Personnalisé</PresentationFormat>
  <Paragraphs>121</Paragraphs>
  <Slides>32</Slides>
  <Notes>2</Notes>
  <HiddenSlides>0</HiddenSlides>
  <MMClips>0</MMClips>
  <ScaleCrop>false</ScaleCrop>
  <HeadingPairs>
    <vt:vector size="8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32</vt:i4>
      </vt:variant>
    </vt:vector>
  </HeadingPairs>
  <TitlesOfParts>
    <vt:vector size="44" baseType="lpstr">
      <vt:lpstr>Times New Roman</vt:lpstr>
      <vt:lpstr>Tahoma Bold</vt:lpstr>
      <vt:lpstr>Work Sans</vt:lpstr>
      <vt:lpstr>Montserrat Bold</vt:lpstr>
      <vt:lpstr>Calibri</vt:lpstr>
      <vt:lpstr>Fira Sans Bold</vt:lpstr>
      <vt:lpstr>Montserrat Medium</vt:lpstr>
      <vt:lpstr>Arial</vt:lpstr>
      <vt:lpstr>Work Sans Bold</vt:lpstr>
      <vt:lpstr>Fira Sans Medium</vt:lpstr>
      <vt:lpstr>Office Theme</vt:lpstr>
      <vt:lpstr>Worksheet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&amp; timeline</dc:title>
  <dc:creator>HP</dc:creator>
  <cp:lastModifiedBy>Bouamri Badr</cp:lastModifiedBy>
  <cp:revision>7</cp:revision>
  <dcterms:created xsi:type="dcterms:W3CDTF">2006-08-16T00:00:00Z</dcterms:created>
  <dcterms:modified xsi:type="dcterms:W3CDTF">2025-12-30T17:55:53Z</dcterms:modified>
  <dc:identifier>DAG6K6I7IZ0</dc:identifier>
</cp:coreProperties>
</file>